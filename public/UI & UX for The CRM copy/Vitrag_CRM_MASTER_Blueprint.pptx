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">
            <a:off x="5669280" y="0"/>
            <a:ext cx="4572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VITRAG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DF5"/>
                </a:solidFill>
              </a:rPr>
              <a:t>The All-Inclusive CRM for Indian Real Estate Professionals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02920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Scale Faster. Close Smarter. Retain Better.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Product Blueprint v1.0  |  Confidential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6576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Built For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960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Solo Realtors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0876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Small Brokerages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1168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Large Real Estate Teams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51460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Property Developers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035040" y="4663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2025 Launch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What we'll cover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9144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The Problem — Why Realtors Need a Better CRM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70992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09928"/>
            <a:ext cx="50292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099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17099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Market Opportunity &amp; Competitive Landscape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05456"/>
            <a:ext cx="50292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054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5054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Vitrag CRM — Vision &amp; Product Philosophy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3009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00984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009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3009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Complete Feature List — 10 Modules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09651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96512"/>
            <a:ext cx="50292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965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40965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Top 10 CRM Comparison Matrix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91440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914400"/>
            <a:ext cx="50292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9144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AI &amp; Automation Stack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170992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709928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7099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4960" y="17099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Analytics &amp; Reporting Suite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250545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505456"/>
            <a:ext cx="50292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5054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94960" y="25054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Tech Architecture &amp; Integrations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00600" y="33009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300984"/>
            <a:ext cx="50292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3009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94960" y="33009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Go-to-Market &amp; Pricing Strategy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00600" y="409651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4096512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0965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4960" y="40965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Roadmap &amp; Next Steps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Why Indian realtors are losing deals every 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1440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0515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4088" y="10241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Scattered Leads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1417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Leads arrive from 8+ sources — 99acres, MagicBricks, WhatsApp, portals — managed across chats, notebooks, spreadsheets. No single view.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2968" y="9144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91440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05156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48456" y="10241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Zero Follow-Up SOP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64408" y="1417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80% of leads are never followed up after Day 3. No automated reminders, no pipeline stage tracking, no accountability.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17336" y="9144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17336" y="91440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05156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92824" y="10241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No Business Visibility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08776" y="1417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Realtors cannot answer: 'What's my conversion rate this month?' They have no dashboards, no funnel analytics, no team performance view.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28600" y="26517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265176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78892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4088" y="276148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Manual &amp; Repetitive Work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20040" y="3154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Proposal creation, property sharing, follow-up messages — all done manually. Hours lost per day that AI could automate.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172968" y="26517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72968" y="265176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278892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48456" y="276148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Team Chaos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64408" y="3154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In brokerages, leads are shared on WhatsApp groups. Duplication, ownership conflicts, no audit trail. Revenue lost.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117336" y="26517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17336" y="265176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2788920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92824" y="276148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Untracked Revenue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208776" y="3154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Commission records in Excel. No deal probability. No client lifetime value. No projected closings for the quarter.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0" y="448056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74320" y="4480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67% of leads go cold within 48 hours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3200400" y="4572000"/>
            <a:ext cx="18288" cy="320040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3337560" y="4480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Avg. realtor uses 4+ disconnected tools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6263640" y="4572000"/>
            <a:ext cx="18288" cy="320040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400800" y="4480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₹2L+ revenue lost/month due to poor follow-up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Market Opportunity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Indian real estate CRM is a massively underserved segment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201168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</a:rPr>
              <a:t>₹33L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Indian Real Estate Market Size (2026)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868680"/>
            <a:ext cx="2011680" cy="1280160"/>
          </a:xfrm>
          <a:prstGeom prst="rect">
            <a:avLst/>
          </a:prstGeom>
          <a:solidFill>
            <a:srgbClr val="0F7173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</a:rPr>
              <a:t>9M+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Licensed Real Estate Agents in India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201168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&lt;5%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Currently Using Any Dedicated CRM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868680"/>
            <a:ext cx="2011680" cy="1280160"/>
          </a:xfrm>
          <a:prstGeom prst="rect">
            <a:avLst/>
          </a:prstGeom>
          <a:solidFill>
            <a:srgbClr val="0F7173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₹8,000 Cr+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Addressable CRM Market (TAM)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Key Growth Drivers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24912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4360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RERA-mandated documentation creating digital paper trails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72384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4360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WhatsApp Business adoption by 78% of realtors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1985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" y="3374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PropTech VC funding ₹4,200 Cr in 2024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67328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94360" y="3721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Tier-2 city real estate boom — 40% new inventory</a:t>
            </a:r>
            <a:endParaRPr lang="en-US" sz="10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11480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4360" y="4069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Post-COVID digital workflow adoption acceleration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Addressable Funnel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663440" y="2697480"/>
            <a:ext cx="3840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663440" y="2697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All Indian Realtors  9M+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074920" y="3172968"/>
            <a:ext cx="301752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74920" y="3172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Digitally Active  4M+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5486400" y="3648456"/>
            <a:ext cx="219456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486400" y="3648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 to CRM Adoption  1.5M+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897880" y="4123944"/>
            <a:ext cx="137160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897880" y="41239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TAM for Vitrag  500K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843"/>
                </a:solidFill>
              </a:rPr>
              <a:t>VITRAG CRM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Vision &amp; Product Philosophy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3716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DF5"/>
                </a:solidFill>
              </a:rPr>
              <a:t>"One platform. Every realtor workflow. Zero compromise."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317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India-First: 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Built for Indian market — ₹ currency, RERA fields, WhatsApp-native, Hindi/regional naming conventions.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535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AI-Augmented:  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808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Every workflow has an AI layer — scoring, suggestions, draft generation, pattern recognition.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7530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3529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Realtor-Grade UX:  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49808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Designed for field agents, not IT teams. Mobile-first. Tap-to-call. WhatsApp-send from CRM.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9709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Scalable from Day 1:  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49808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Works for a solo consultant and scales to a 200-person brokerage without re-implementation.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54864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0" y="502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76072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Remove 80% of manual work from a realtor's day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760720" y="1572768"/>
            <a:ext cx="310896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96596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008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Vision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576072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India's #1 real estate CRM by 2027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5760720" y="2990088"/>
            <a:ext cx="310896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38328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008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57607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10,000 realtors in 18 months post-launch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Core Modules — Feature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Every module is a complete workflow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1440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0058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Lead Management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947672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947672" y="91440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0058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93392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93392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Contact &amp; Client Database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712464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12464" y="91440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058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58184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758184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Property Inventory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77256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77256" y="91440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0058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22976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522976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Deal Pipeline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242048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42048" y="914400"/>
            <a:ext cx="1627632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100584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87768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7287768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AI &amp; Automation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182880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82880" y="283464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292608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2860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228600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Analytics &amp; Reports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1947672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1947672" y="283464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608" y="2926080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993392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993392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Omnichannel Communication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3712464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3712464" y="2834640"/>
            <a:ext cx="1627632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2926080"/>
            <a:ext cx="365760" cy="3657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758184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3758184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Task &amp; Activity Manager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5477256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5477256" y="283464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192" y="2926080"/>
            <a:ext cx="365760" cy="36576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522976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5522976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Team &amp; Role Management</a:t>
            </a:r>
            <a:endParaRPr lang="en-US" sz="1050" dirty="0"/>
          </a:p>
        </p:txBody>
      </p:sp>
      <p:sp>
        <p:nvSpPr>
          <p:cNvPr id="54" name="Shape 43"/>
          <p:cNvSpPr/>
          <p:nvPr/>
        </p:nvSpPr>
        <p:spPr>
          <a:xfrm>
            <a:off x="7242048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7242048" y="283464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2984" y="2926080"/>
            <a:ext cx="365760" cy="36576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287768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010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7287768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Integrations &amp; Security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01 — Lead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Capture, score, assign &amp; nurture every lead automatically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960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Multi-Source Ingestion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6616" y="13716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Auto-capture from 99acres, MagicBricks, Housing.com, GSuite portal, WhatsApp, Facebook Ads, website forms — unified inbox.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72968" y="8686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86868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058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960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AI Lead Scoring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00984" y="13716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14-signal scoring engine: budget fit, property type match, engagement level, source quality, response time. Score 1–100.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17336" y="8686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17336" y="86868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05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0256" y="960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Smart Deduplication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45352" y="13716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Phone number normalization + name fuzzy-match. Merge duplicates automatically. Keep complete activity history.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28600" y="260604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260604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Auto Assignment Rules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" y="31089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Round-robin, geography-based, specialisation-based or manual assignment. Escalation if no action in X hours.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72968" y="260604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72968" y="260604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7432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75888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Follow-Up Sequences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300984" y="31089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Set drip campaigns: Day 1 call, Day 2 WhatsApp, Day 4 email, Day 7 re-engage. Fully customisable SOPs.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117336" y="260604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17336" y="260604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74320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20256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Lead Stage Pipeline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245352" y="31089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New → Contacted → Interested → Site Visit → Negotiation → Closed/Lost. Drag-drop Kanban view.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0" y="4453128"/>
            <a:ext cx="914400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182880" y="445312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✦  Sources Supported: 99acres · MagicBricks · Housing.com · NoBroker · Square Yards · Facebook Ads · Google Ads · WhatsApp · Website Widget · Manual Entry · Excel Import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03 &amp; 04 — Property Inventory + Deal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Full inventory management + visual deal tracking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868680"/>
            <a:ext cx="42062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68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PROPERTY INVENTORY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07592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208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Multi-category: Residential, Commercial, Plot, Villa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55064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" y="1627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Full media library: photos, floor plans, brochures, videos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0253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RERA number field + compliance status tracker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35000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Auto-generate property microsites / digital brochures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69748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Availability status: Available / Under Offer / Sold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044952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1208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Match engine: auto-suggest properties to leads by criteria</a:t>
            </a:r>
            <a:endParaRPr lang="en-US" sz="9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392424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Price history log &amp; revision tracking</a:t>
            </a:r>
            <a:endParaRPr lang="en-US" sz="9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739896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Builder/developer relationship management</a:t>
            </a:r>
            <a:endParaRPr lang="en-US" sz="950" dirty="0"/>
          </a:p>
        </p:txBody>
      </p:sp>
      <p:sp>
        <p:nvSpPr>
          <p:cNvPr id="27" name="Shape 17"/>
          <p:cNvSpPr/>
          <p:nvPr/>
        </p:nvSpPr>
        <p:spPr>
          <a:xfrm>
            <a:off x="4754880" y="868680"/>
            <a:ext cx="420624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4754880" y="868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DEAL PIPELINE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1307592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093208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Visual Kanban: drag deals across 7 pipeline stages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1655064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093208" y="1627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Deal value, commission %, expected close date</a:t>
            </a:r>
            <a:endParaRPr lang="en-US" sz="9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2002536"/>
            <a:ext cx="164592" cy="16459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093208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Activity log: calls, visits, negotiations, documents</a:t>
            </a:r>
            <a:endParaRPr lang="en-US" sz="9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2350008"/>
            <a:ext cx="164592" cy="16459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093208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Automated stage-change notifications to team</a:t>
            </a:r>
            <a:endParaRPr lang="en-US" sz="9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2697480"/>
            <a:ext cx="164592" cy="164592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093208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Lost deal analysis: reason tagging + win/loss report</a:t>
            </a:r>
            <a:endParaRPr lang="en-US" sz="9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6320" y="3044952"/>
            <a:ext cx="164592" cy="164592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093208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Commission calculator with split configuration</a:t>
            </a:r>
            <a:endParaRPr lang="en-US" sz="95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3392424"/>
            <a:ext cx="164592" cy="164592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093208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Deal forecasting: probability-weighted revenue view</a:t>
            </a:r>
            <a:endParaRPr lang="en-US" sz="95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6320" y="3739896"/>
            <a:ext cx="164592" cy="164592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093208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Digital document vault per deal (agreement, receipts)</a:t>
            </a:r>
            <a:endParaRPr lang="en-US" sz="950" dirty="0"/>
          </a:p>
        </p:txBody>
      </p:sp>
      <p:sp>
        <p:nvSpPr>
          <p:cNvPr id="45" name="Shape 27"/>
          <p:cNvSpPr/>
          <p:nvPr/>
        </p:nvSpPr>
        <p:spPr>
          <a:xfrm>
            <a:off x="4526280" y="868680"/>
            <a:ext cx="91440" cy="406908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F40"/>
          </a:solidFill>
          <a:ln w="12700">
            <a:solidFill>
              <a:srgbClr val="111F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05 — AI &amp; Automation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</a:rPr>
              <a:t>Where Vitrag CRM outclasses every generic CRM in the market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0972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0515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Lead Scoring AI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14-signal ML model scores every lead 1–100. Factors: source, response time, budget match, property type preference, engagement depth.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63824" y="96012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96012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0972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10515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Draft Generator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55264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AI writes WhatsApp follow-up messages, property proposals, email templates based on lead profile and stage. One-click send.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44768" y="96012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96012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97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0256" y="10515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Next Best Action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36208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After each interaction, AI suggests: 'Call now', 'Send property brochure', 'Schedule site visit', 'Offer alternative property'.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182880" y="283464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82880" y="283464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97180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8368" y="292608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Churn Prediction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Identifies leads going cold before they do. Flags unengaged leads 3 days before typical dropout window.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163824" y="283464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63824" y="283464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297180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9312" y="292608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Market Insights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255264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Pulls pricing trends, inventory movement, buyer sentiment from aggregated anonymous data. Weekly realtor briefing.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144768" y="283464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44768" y="283464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97180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20256" y="292608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Workflow Automation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36208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No-code automation builder: If [lead source = FB Ad] + [budget &gt; 50L] → assign to senior agent + send premium welcome sequence.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07 — Omnichannel Communication Hub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WhatsApp · Email · SMS · Call · In-App — all from one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201168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144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WhatsApp Business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WATI/Interakt BSP integration. Broadcast lists, templated sequences, quick replies. All chats logged to lead record.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2316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23160" y="868680"/>
            <a:ext cx="2011680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9144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Email Campaigns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51460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SMTP / Gmail integration. Automated drip sequences. Open/click tracking. HTML templates for property brochures.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1772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17720" y="868680"/>
            <a:ext cx="201168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9144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1772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Click-to-Call + Log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0916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One-tap calling from any lead record. Auto-log call outcome. Record if permitted. Generate call summary via AI.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1228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12280" y="868680"/>
            <a:ext cx="201168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9144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SMS Gateway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0372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</a:rPr>
              <a:t>Bulk SMS for site visit reminders, launch announcements. DLT-compliant templates. Delivery reports.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182880" y="4133088"/>
            <a:ext cx="8778240" cy="8229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224528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864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Unified Inbox — all channel messages in one timeline per lead</a:t>
            </a:r>
            <a:endParaRPr lang="en-US" sz="8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4224528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74320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Auto-response bot for off-hours lead queries (WhatsApp + website)</a:t>
            </a:r>
            <a:endParaRPr lang="en-US" sz="8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24528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3776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Read receipts &amp; engagement tracking across all channels</a:t>
            </a:r>
            <a:endParaRPr lang="en-US" sz="8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4224528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3232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Compliance: DND check, opt-out management, TRAI compliance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06 — Analytics &amp; Reporting Suite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Real-time dashboards, forecasts &amp; performance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278892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9144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886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 Analytics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1435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Lead source performance (CPL by source)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57400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Stage conversion funnel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65176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Response time distribution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4612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4360" y="3218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Lead score histogram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172968" y="86868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172968" y="868680"/>
            <a:ext cx="278892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696" y="91440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75888" y="886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Forecasting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1463040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538728" y="1435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Pipeline value by stage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2057400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538728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Probability-weighted close forecast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2651760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538728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Commission projection (monthly/quarterly)</a:t>
            </a:r>
            <a:endParaRPr lang="en-US" sz="10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0128" y="3246120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538728" y="3218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Won vs lost revenue trend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6117336" y="86868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117336" y="868680"/>
            <a:ext cx="278892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7064" y="914400"/>
            <a:ext cx="320040" cy="32004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620256" y="886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Performance</a:t>
            </a:r>
            <a:endParaRPr lang="en-US" sz="12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496" y="1463040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483096" y="1435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Agent leaderboard (leads, visits, closings)</a:t>
            </a:r>
            <a:endParaRPr lang="en-US" sz="10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4496" y="2057400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483096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Activity log per agent</a:t>
            </a:r>
            <a:endParaRPr lang="en-US" sz="10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4496" y="2651760"/>
            <a:ext cx="164592" cy="164592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483096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Conversion rate by agent</a:t>
            </a:r>
            <a:endParaRPr lang="en-US" sz="10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4496" y="3246120"/>
            <a:ext cx="164592" cy="16459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483096" y="3218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SLA compliance (follow-up speed)</a:t>
            </a:r>
            <a:endParaRPr lang="en-US" sz="1000" dirty="0"/>
          </a:p>
        </p:txBody>
      </p:sp>
      <p:sp>
        <p:nvSpPr>
          <p:cNvPr id="45" name="Shape 28"/>
          <p:cNvSpPr/>
          <p:nvPr/>
        </p:nvSpPr>
        <p:spPr>
          <a:xfrm>
            <a:off x="0" y="443484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6" name="Text 29"/>
          <p:cNvSpPr/>
          <p:nvPr/>
        </p:nvSpPr>
        <p:spPr>
          <a:xfrm>
            <a:off x="182880" y="4434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</a:rPr>
              <a:t>Also Included: Property Performance Report  ·  Client Retention Report  ·  Campaign ROI Report  ·  Market Price Trend Report  ·  Custom Report Builder  ·  Scheduled PDF Exports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10 CRM Comparison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Vitrag CRM vs. leading real estate CRMs in the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86968"/>
            <a:ext cx="15544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86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886968"/>
            <a:ext cx="694944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Vitrag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404872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SFDC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118104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HubSpot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831336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Zoho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44568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LionDesk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257800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FUB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71032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kvCORE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84264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PropBase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97496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Wise Agent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110728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0728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Streak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1440" y="1271016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" y="1271016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WhatsApp Native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91640" y="1271016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04872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04872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18104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8104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31336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1336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44568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4568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57800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0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71032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71032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84264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84264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97496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97496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10728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1440" y="1572768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016" y="1572768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Lead Scoring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91640" y="1572768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91640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04872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04872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118104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18104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831336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31336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44568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44568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257800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971032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71032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84264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84264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397496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97496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110728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10728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1440" y="1874520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8016" y="1874520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India Portal Integration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691640" y="1874520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91640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404872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04872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118104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18104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831336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31336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44568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44568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257800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57800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971032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71032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684264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84264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397496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97496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110728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10728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91440" y="2176272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28016" y="2176272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Property Inventory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691640" y="2176272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91640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404872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04872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118104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18104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831336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31336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544568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544568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257800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257800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971032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71032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684264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84264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397496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397496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110728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110728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91440" y="2478024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28016" y="2478024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Kanban Pipeline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691640" y="2478024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691640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404872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404872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3118104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118104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3831336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831336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4544568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544568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5257800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257800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971032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71032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684264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684264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7397496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97496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8110728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110728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91440" y="2779776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28016" y="2779776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Auto Follow-up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1691640" y="2779776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691640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2404872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404872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3118104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118104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3831336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831336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4544568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544568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5257800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257800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5971032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71032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6684264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684264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7397496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397496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8110728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110728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91440" y="3081528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28016" y="3081528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Commission Calc.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1691640" y="3081528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691640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2404872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04872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3118104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118104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3831336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831336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4544568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544568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5257800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257800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5971032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971032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6684264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684264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7397496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397496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8110728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110728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85" name="Shape 183"/>
          <p:cNvSpPr/>
          <p:nvPr/>
        </p:nvSpPr>
        <p:spPr>
          <a:xfrm>
            <a:off x="91440" y="3383280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28016" y="3383280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Team Roles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1691640" y="3383280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691640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2404872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404872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1" name="Shape 189"/>
          <p:cNvSpPr/>
          <p:nvPr/>
        </p:nvSpPr>
        <p:spPr>
          <a:xfrm>
            <a:off x="3118104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118104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3831336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3831336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5" name="Shape 193"/>
          <p:cNvSpPr/>
          <p:nvPr/>
        </p:nvSpPr>
        <p:spPr>
          <a:xfrm>
            <a:off x="4544568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544568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97" name="Shape 195"/>
          <p:cNvSpPr/>
          <p:nvPr/>
        </p:nvSpPr>
        <p:spPr>
          <a:xfrm>
            <a:off x="5257800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57800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9" name="Shape 197"/>
          <p:cNvSpPr/>
          <p:nvPr/>
        </p:nvSpPr>
        <p:spPr>
          <a:xfrm>
            <a:off x="5971032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971032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>
            <a:off x="6684264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684264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03" name="Shape 201"/>
          <p:cNvSpPr/>
          <p:nvPr/>
        </p:nvSpPr>
        <p:spPr>
          <a:xfrm>
            <a:off x="7397496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397496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05" name="Shape 203"/>
          <p:cNvSpPr/>
          <p:nvPr/>
        </p:nvSpPr>
        <p:spPr>
          <a:xfrm>
            <a:off x="8110728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8110728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07" name="Shape 205"/>
          <p:cNvSpPr/>
          <p:nvPr/>
        </p:nvSpPr>
        <p:spPr>
          <a:xfrm>
            <a:off x="91440" y="3685032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28016" y="3685032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Mobile App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1691640" y="3685032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691640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1" name="Shape 209"/>
          <p:cNvSpPr/>
          <p:nvPr/>
        </p:nvSpPr>
        <p:spPr>
          <a:xfrm>
            <a:off x="2404872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404872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3" name="Shape 211"/>
          <p:cNvSpPr/>
          <p:nvPr/>
        </p:nvSpPr>
        <p:spPr>
          <a:xfrm>
            <a:off x="3118104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118104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5" name="Shape 213"/>
          <p:cNvSpPr/>
          <p:nvPr/>
        </p:nvSpPr>
        <p:spPr>
          <a:xfrm>
            <a:off x="3831336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831336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4544568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544568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9" name="Shape 217"/>
          <p:cNvSpPr/>
          <p:nvPr/>
        </p:nvSpPr>
        <p:spPr>
          <a:xfrm>
            <a:off x="5257800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257800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1" name="Shape 219"/>
          <p:cNvSpPr/>
          <p:nvPr/>
        </p:nvSpPr>
        <p:spPr>
          <a:xfrm>
            <a:off x="5971032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5971032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3" name="Shape 221"/>
          <p:cNvSpPr/>
          <p:nvPr/>
        </p:nvSpPr>
        <p:spPr>
          <a:xfrm>
            <a:off x="6684264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684264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5" name="Shape 223"/>
          <p:cNvSpPr/>
          <p:nvPr/>
        </p:nvSpPr>
        <p:spPr>
          <a:xfrm>
            <a:off x="7397496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7397496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7" name="Shape 225"/>
          <p:cNvSpPr/>
          <p:nvPr/>
        </p:nvSpPr>
        <p:spPr>
          <a:xfrm>
            <a:off x="8110728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8110728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29" name="Shape 227"/>
          <p:cNvSpPr/>
          <p:nvPr/>
        </p:nvSpPr>
        <p:spPr>
          <a:xfrm>
            <a:off x="91440" y="3986784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28016" y="3986784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Custom Reports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1691640" y="3986784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691640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3" name="Shape 231"/>
          <p:cNvSpPr/>
          <p:nvPr/>
        </p:nvSpPr>
        <p:spPr>
          <a:xfrm>
            <a:off x="2404872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2404872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5" name="Shape 233"/>
          <p:cNvSpPr/>
          <p:nvPr/>
        </p:nvSpPr>
        <p:spPr>
          <a:xfrm>
            <a:off x="3118104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3118104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7" name="Shape 235"/>
          <p:cNvSpPr/>
          <p:nvPr/>
        </p:nvSpPr>
        <p:spPr>
          <a:xfrm>
            <a:off x="3831336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3831336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9" name="Shape 237"/>
          <p:cNvSpPr/>
          <p:nvPr/>
        </p:nvSpPr>
        <p:spPr>
          <a:xfrm>
            <a:off x="4544568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4544568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41" name="Shape 239"/>
          <p:cNvSpPr/>
          <p:nvPr/>
        </p:nvSpPr>
        <p:spPr>
          <a:xfrm>
            <a:off x="5257800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5257800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43" name="Shape 241"/>
          <p:cNvSpPr/>
          <p:nvPr/>
        </p:nvSpPr>
        <p:spPr>
          <a:xfrm>
            <a:off x="5971032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971032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45" name="Shape 243"/>
          <p:cNvSpPr/>
          <p:nvPr/>
        </p:nvSpPr>
        <p:spPr>
          <a:xfrm>
            <a:off x="6684264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6684264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47" name="Shape 245"/>
          <p:cNvSpPr/>
          <p:nvPr/>
        </p:nvSpPr>
        <p:spPr>
          <a:xfrm>
            <a:off x="7397496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7397496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49" name="Shape 247"/>
          <p:cNvSpPr/>
          <p:nvPr/>
        </p:nvSpPr>
        <p:spPr>
          <a:xfrm>
            <a:off x="8110728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8110728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51" name="Shape 249"/>
          <p:cNvSpPr/>
          <p:nvPr/>
        </p:nvSpPr>
        <p:spPr>
          <a:xfrm>
            <a:off x="91440" y="4288536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128016" y="4288536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RERA Fields</a:t>
            </a:r>
            <a:endParaRPr lang="en-US" sz="800" dirty="0"/>
          </a:p>
        </p:txBody>
      </p:sp>
      <p:sp>
        <p:nvSpPr>
          <p:cNvPr id="253" name="Shape 251"/>
          <p:cNvSpPr/>
          <p:nvPr/>
        </p:nvSpPr>
        <p:spPr>
          <a:xfrm>
            <a:off x="1691640" y="4288536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691640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55" name="Shape 253"/>
          <p:cNvSpPr/>
          <p:nvPr/>
        </p:nvSpPr>
        <p:spPr>
          <a:xfrm>
            <a:off x="2404872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2404872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57" name="Shape 255"/>
          <p:cNvSpPr/>
          <p:nvPr/>
        </p:nvSpPr>
        <p:spPr>
          <a:xfrm>
            <a:off x="3118104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3118104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59" name="Shape 257"/>
          <p:cNvSpPr/>
          <p:nvPr/>
        </p:nvSpPr>
        <p:spPr>
          <a:xfrm>
            <a:off x="3831336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3831336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1" name="Shape 259"/>
          <p:cNvSpPr/>
          <p:nvPr/>
        </p:nvSpPr>
        <p:spPr>
          <a:xfrm>
            <a:off x="4544568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4544568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3" name="Shape 261"/>
          <p:cNvSpPr/>
          <p:nvPr/>
        </p:nvSpPr>
        <p:spPr>
          <a:xfrm>
            <a:off x="5257800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5257800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5" name="Shape 263"/>
          <p:cNvSpPr/>
          <p:nvPr/>
        </p:nvSpPr>
        <p:spPr>
          <a:xfrm>
            <a:off x="5971032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5971032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7" name="Shape 265"/>
          <p:cNvSpPr/>
          <p:nvPr/>
        </p:nvSpPr>
        <p:spPr>
          <a:xfrm>
            <a:off x="6684264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6684264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9" name="Shape 267"/>
          <p:cNvSpPr/>
          <p:nvPr/>
        </p:nvSpPr>
        <p:spPr>
          <a:xfrm>
            <a:off x="7397496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7397496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71" name="Shape 269"/>
          <p:cNvSpPr/>
          <p:nvPr/>
        </p:nvSpPr>
        <p:spPr>
          <a:xfrm>
            <a:off x="8110728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8110728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73" name="Shape 271"/>
          <p:cNvSpPr/>
          <p:nvPr/>
        </p:nvSpPr>
        <p:spPr>
          <a:xfrm>
            <a:off x="91440" y="4590288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28016" y="4590288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Starting Price/mo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1691640" y="4590288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691640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7173"/>
                </a:solidFill>
              </a:rPr>
              <a:t>₹999</a:t>
            </a:r>
            <a:endParaRPr lang="en-US" sz="700" dirty="0"/>
          </a:p>
        </p:txBody>
      </p:sp>
      <p:sp>
        <p:nvSpPr>
          <p:cNvPr id="277" name="Shape 275"/>
          <p:cNvSpPr/>
          <p:nvPr/>
        </p:nvSpPr>
        <p:spPr>
          <a:xfrm>
            <a:off x="2404872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2404872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₹12K+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3118104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118104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₹3K+</a:t>
            </a:r>
            <a:endParaRPr lang="en-US" sz="700" dirty="0"/>
          </a:p>
        </p:txBody>
      </p:sp>
      <p:sp>
        <p:nvSpPr>
          <p:cNvPr id="281" name="Shape 279"/>
          <p:cNvSpPr/>
          <p:nvPr/>
        </p:nvSpPr>
        <p:spPr>
          <a:xfrm>
            <a:off x="3831336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3831336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₹800</a:t>
            </a:r>
            <a:endParaRPr lang="en-US" sz="700" dirty="0"/>
          </a:p>
        </p:txBody>
      </p:sp>
      <p:sp>
        <p:nvSpPr>
          <p:cNvPr id="283" name="Shape 281"/>
          <p:cNvSpPr/>
          <p:nvPr/>
        </p:nvSpPr>
        <p:spPr>
          <a:xfrm>
            <a:off x="4544568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4544568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₹3K</a:t>
            </a:r>
            <a:endParaRPr lang="en-US" sz="700" dirty="0"/>
          </a:p>
        </p:txBody>
      </p:sp>
      <p:sp>
        <p:nvSpPr>
          <p:cNvPr id="285" name="Shape 283"/>
          <p:cNvSpPr/>
          <p:nvPr/>
        </p:nvSpPr>
        <p:spPr>
          <a:xfrm>
            <a:off x="5257800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5257800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₹5K</a:t>
            </a:r>
            <a:endParaRPr lang="en-US" sz="700" dirty="0"/>
          </a:p>
        </p:txBody>
      </p:sp>
      <p:sp>
        <p:nvSpPr>
          <p:cNvPr id="287" name="Shape 285"/>
          <p:cNvSpPr/>
          <p:nvPr/>
        </p:nvSpPr>
        <p:spPr>
          <a:xfrm>
            <a:off x="5971032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5971032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₹4K</a:t>
            </a:r>
            <a:endParaRPr lang="en-US" sz="700" dirty="0"/>
          </a:p>
        </p:txBody>
      </p:sp>
      <p:sp>
        <p:nvSpPr>
          <p:cNvPr id="289" name="Shape 287"/>
          <p:cNvSpPr/>
          <p:nvPr/>
        </p:nvSpPr>
        <p:spPr>
          <a:xfrm>
            <a:off x="6684264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6684264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₹6K</a:t>
            </a:r>
            <a:endParaRPr lang="en-US" sz="700" dirty="0"/>
          </a:p>
        </p:txBody>
      </p:sp>
      <p:sp>
        <p:nvSpPr>
          <p:cNvPr id="291" name="Shape 289"/>
          <p:cNvSpPr/>
          <p:nvPr/>
        </p:nvSpPr>
        <p:spPr>
          <a:xfrm>
            <a:off x="7397496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7397496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₹1.5K</a:t>
            </a:r>
            <a:endParaRPr lang="en-US" sz="700" dirty="0"/>
          </a:p>
        </p:txBody>
      </p:sp>
      <p:sp>
        <p:nvSpPr>
          <p:cNvPr id="293" name="Shape 291"/>
          <p:cNvSpPr/>
          <p:nvPr/>
        </p:nvSpPr>
        <p:spPr>
          <a:xfrm>
            <a:off x="8110728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8110728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3E50"/>
                </a:solidFill>
              </a:rPr>
              <a:t>₹850</a:t>
            </a:r>
            <a:endParaRPr lang="en-US" sz="700" dirty="0"/>
          </a:p>
        </p:txBody>
      </p:sp>
      <p:sp>
        <p:nvSpPr>
          <p:cNvPr id="295" name="Text 293"/>
          <p:cNvSpPr/>
          <p:nvPr/>
        </p:nvSpPr>
        <p:spPr>
          <a:xfrm>
            <a:off x="9144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BA0"/>
                </a:solidFill>
              </a:rPr>
              <a:t>✓ = Full  ~ = Partial  ✗ = Missing</a:t>
            </a:r>
            <a:endParaRPr lang="en-US" sz="800" dirty="0"/>
          </a:p>
        </p:txBody>
      </p:sp>
      <p:sp>
        <p:nvSpPr>
          <p:cNvPr id="296" name="Text 294"/>
          <p:cNvSpPr/>
          <p:nvPr/>
        </p:nvSpPr>
        <p:spPr>
          <a:xfrm>
            <a:off x="4114800" y="48737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173"/>
                </a:solidFill>
              </a:rPr>
              <a:t>Vitrag CRM is the ONLY CRM with WhatsApp-native + India portal integration + RERA fields built in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Modern, scalable, India-ready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128016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" y="9144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91440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9144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React.js + React Native (iOS/Android)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005840"/>
            <a:ext cx="137160" cy="137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919472" y="978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Next.js Web App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188720"/>
            <a:ext cx="137160" cy="1371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19472" y="1161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React Native Mobile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371600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9472" y="1344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PWA Offline Support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0080" y="1572768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82880" y="1709928"/>
            <a:ext cx="12801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82880" y="17099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API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554480" y="17099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627632" y="17099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Node.js + Python (AI/ML services)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1709928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801368"/>
            <a:ext cx="137160" cy="1371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919472" y="1773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REST + GraphQL APIs</a:t>
            </a:r>
            <a:endParaRPr lang="en-US" sz="9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984248"/>
            <a:ext cx="137160" cy="1371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19472" y="1956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Webhook Engine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2167128"/>
            <a:ext cx="137160" cy="1371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19472" y="2139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n8n Automation Layer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40080" y="2368296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82880" y="2505456"/>
            <a:ext cx="128016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182880" y="250545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1554480" y="250545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627632" y="2505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PostgreSQL (primary) + Redis (cache)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663440" y="2505456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2596896"/>
            <a:ext cx="137160" cy="1371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19472" y="2569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9-table schema</a:t>
            </a:r>
            <a:endParaRPr lang="en-US" sz="9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2779776"/>
            <a:ext cx="137160" cy="1371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919472" y="27523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Real-time sync</a:t>
            </a:r>
            <a:endParaRPr lang="en-US" sz="9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2962656"/>
            <a:ext cx="137160" cy="1371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19472" y="2935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Multi-tenant isolation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640080" y="3163824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82880" y="3300984"/>
            <a:ext cx="128016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35"/>
          <p:cNvSpPr/>
          <p:nvPr/>
        </p:nvSpPr>
        <p:spPr>
          <a:xfrm>
            <a:off x="182880" y="33009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Layer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1554480" y="330098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1627632" y="33009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OpenAI GPT-4 + Custom ML Models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4663440" y="3300984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592" y="3392424"/>
            <a:ext cx="137160" cy="13716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4919472" y="3364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Lead scoring model</a:t>
            </a:r>
            <a:endParaRPr lang="en-US" sz="90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6592" y="3575304"/>
            <a:ext cx="137160" cy="13716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4919472" y="3547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Draft generator</a:t>
            </a:r>
            <a:endParaRPr lang="en-US" sz="9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6592" y="3758184"/>
            <a:ext cx="137160" cy="13716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4919472" y="3730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Churn predictor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40080" y="3959352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182880" y="4096512"/>
            <a:ext cx="128016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Text 44"/>
          <p:cNvSpPr/>
          <p:nvPr/>
        </p:nvSpPr>
        <p:spPr>
          <a:xfrm>
            <a:off x="182880" y="409651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Integrations</a:t>
            </a:r>
            <a:endParaRPr lang="en-US" sz="1000" dirty="0"/>
          </a:p>
        </p:txBody>
      </p:sp>
      <p:sp>
        <p:nvSpPr>
          <p:cNvPr id="59" name="Shape 45"/>
          <p:cNvSpPr/>
          <p:nvPr/>
        </p:nvSpPr>
        <p:spPr>
          <a:xfrm>
            <a:off x="1554480" y="409651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60" name="Text 46"/>
          <p:cNvSpPr/>
          <p:nvPr/>
        </p:nvSpPr>
        <p:spPr>
          <a:xfrm>
            <a:off x="1627632" y="4096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WhatsApp (WATI/BSP), Portals, GSuite</a:t>
            </a:r>
            <a:endParaRPr lang="en-US" sz="1000" dirty="0"/>
          </a:p>
        </p:txBody>
      </p:sp>
      <p:sp>
        <p:nvSpPr>
          <p:cNvPr id="61" name="Shape 47"/>
          <p:cNvSpPr/>
          <p:nvPr/>
        </p:nvSpPr>
        <p:spPr>
          <a:xfrm>
            <a:off x="4663440" y="4096512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6592" y="4187952"/>
            <a:ext cx="137160" cy="137160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4919472" y="4160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99acres webhook</a:t>
            </a:r>
            <a:endParaRPr lang="en-US" sz="900" dirty="0"/>
          </a:p>
        </p:txBody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6592" y="4370832"/>
            <a:ext cx="137160" cy="137160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4919472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MagicBricks API</a:t>
            </a:r>
            <a:endParaRPr lang="en-US" sz="900" dirty="0"/>
          </a:p>
        </p:txBody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6592" y="4553712"/>
            <a:ext cx="137160" cy="137160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4919472" y="4526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Gmail / Google Calendar</a:t>
            </a:r>
            <a:endParaRPr lang="en-US" sz="900" dirty="0"/>
          </a:p>
        </p:txBody>
      </p:sp>
      <p:sp>
        <p:nvSpPr>
          <p:cNvPr id="68" name="Shape 51"/>
          <p:cNvSpPr/>
          <p:nvPr/>
        </p:nvSpPr>
        <p:spPr>
          <a:xfrm>
            <a:off x="0" y="4572000"/>
            <a:ext cx="914400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9" name="Text 52"/>
          <p:cNvSpPr/>
          <p:nvPr/>
        </p:nvSpPr>
        <p:spPr>
          <a:xfrm>
            <a:off x="182880" y="457200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Deployment:  ☁  Managed Cloud (Vercel + Supabase + n8n Cloud)   |   🖥  Self-Hosted (VPS + Docker + Postgres)   |   Both paths supported from Day 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Integrations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Vitrag CRM connects everything a realtor already uses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20116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 Portals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43560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99acres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83080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MagicBricks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130552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Housing.com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47802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NoBroker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825496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864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Square Yards</a:t>
            </a:r>
            <a:endParaRPr lang="en-US" sz="9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3172968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8640" y="31455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PropTiger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2423160" y="886968"/>
            <a:ext cx="201168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960120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83464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242316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2888" y="1435608"/>
            <a:ext cx="146304" cy="14630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74320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WATI / Interakt BSP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2888" y="1783080"/>
            <a:ext cx="146304" cy="14630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274320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Twilio SMS</a:t>
            </a:r>
            <a:endParaRPr lang="en-US" sz="9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2888" y="2130552"/>
            <a:ext cx="146304" cy="14630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274320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Gmail / Outlook</a:t>
            </a:r>
            <a:endParaRPr lang="en-US" sz="9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2888" y="2478024"/>
            <a:ext cx="146304" cy="14630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274320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Exotel (Call)</a:t>
            </a:r>
            <a:endParaRPr lang="en-US" sz="9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2888" y="2825496"/>
            <a:ext cx="146304" cy="14630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274320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WhatsApp Cloud API</a:t>
            </a:r>
            <a:endParaRPr lang="en-US" sz="950" dirty="0"/>
          </a:p>
        </p:txBody>
      </p:sp>
      <p:sp>
        <p:nvSpPr>
          <p:cNvPr id="39" name="Shape 24"/>
          <p:cNvSpPr/>
          <p:nvPr/>
        </p:nvSpPr>
        <p:spPr>
          <a:xfrm>
            <a:off x="4617720" y="886968"/>
            <a:ext cx="2011680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9160" y="960120"/>
            <a:ext cx="256032" cy="256032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02920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Productivity</a:t>
            </a:r>
            <a:endParaRPr lang="en-US" sz="1100" dirty="0"/>
          </a:p>
        </p:txBody>
      </p:sp>
      <p:sp>
        <p:nvSpPr>
          <p:cNvPr id="42" name="Shape 26"/>
          <p:cNvSpPr/>
          <p:nvPr/>
        </p:nvSpPr>
        <p:spPr>
          <a:xfrm>
            <a:off x="461772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7448" y="1435608"/>
            <a:ext cx="146304" cy="146304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493776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Google Calendar</a:t>
            </a:r>
            <a:endParaRPr lang="en-US" sz="95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7448" y="1783080"/>
            <a:ext cx="146304" cy="146304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493776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Google Drive</a:t>
            </a:r>
            <a:endParaRPr lang="en-US" sz="95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27448" y="2130552"/>
            <a:ext cx="146304" cy="146304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493776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Google Sheets</a:t>
            </a:r>
            <a:endParaRPr lang="en-US" sz="950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27448" y="2478024"/>
            <a:ext cx="146304" cy="146304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493776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Slack / Teams</a:t>
            </a:r>
            <a:endParaRPr lang="en-US" sz="950" dirty="0"/>
          </a:p>
        </p:txBody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27448" y="2825496"/>
            <a:ext cx="146304" cy="146304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493776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Zapier / n8n</a:t>
            </a:r>
            <a:endParaRPr lang="en-US" sz="950" dirty="0"/>
          </a:p>
        </p:txBody>
      </p:sp>
      <p:sp>
        <p:nvSpPr>
          <p:cNvPr id="53" name="Shape 32"/>
          <p:cNvSpPr/>
          <p:nvPr/>
        </p:nvSpPr>
        <p:spPr>
          <a:xfrm>
            <a:off x="6812280" y="886968"/>
            <a:ext cx="20116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03720" y="960120"/>
            <a:ext cx="256032" cy="256032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722376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Payments &amp; Finance</a:t>
            </a:r>
            <a:endParaRPr lang="en-US" sz="1100" dirty="0"/>
          </a:p>
        </p:txBody>
      </p:sp>
      <p:sp>
        <p:nvSpPr>
          <p:cNvPr id="56" name="Shape 34"/>
          <p:cNvSpPr/>
          <p:nvPr/>
        </p:nvSpPr>
        <p:spPr>
          <a:xfrm>
            <a:off x="681228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22008" y="1435608"/>
            <a:ext cx="146304" cy="146304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713232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Razorpay (invoicing)</a:t>
            </a:r>
            <a:endParaRPr lang="en-US" sz="950" dirty="0"/>
          </a:p>
        </p:txBody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22008" y="1783080"/>
            <a:ext cx="146304" cy="146304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713232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Zoho Books</a:t>
            </a:r>
            <a:endParaRPr lang="en-US" sz="950" dirty="0"/>
          </a:p>
        </p:txBody>
      </p:sp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22008" y="2130552"/>
            <a:ext cx="146304" cy="146304"/>
          </a:xfrm>
          <a:prstGeom prst="rect">
            <a:avLst/>
          </a:prstGeom>
        </p:spPr>
      </p:pic>
      <p:sp>
        <p:nvSpPr>
          <p:cNvPr id="62" name="Text 37"/>
          <p:cNvSpPr/>
          <p:nvPr/>
        </p:nvSpPr>
        <p:spPr>
          <a:xfrm>
            <a:off x="713232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Tally export</a:t>
            </a:r>
            <a:endParaRPr lang="en-US" sz="950" dirty="0"/>
          </a:p>
        </p:txBody>
      </p:sp>
      <p:pic>
        <p:nvPicPr>
          <p:cNvPr id="6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22008" y="2478024"/>
            <a:ext cx="146304" cy="146304"/>
          </a:xfrm>
          <a:prstGeom prst="rect">
            <a:avLst/>
          </a:prstGeom>
        </p:spPr>
      </p:pic>
      <p:sp>
        <p:nvSpPr>
          <p:cNvPr id="64" name="Text 38"/>
          <p:cNvSpPr/>
          <p:nvPr/>
        </p:nvSpPr>
        <p:spPr>
          <a:xfrm>
            <a:off x="713232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UPI QR generation</a:t>
            </a:r>
            <a:endParaRPr lang="en-US" sz="950" dirty="0"/>
          </a:p>
        </p:txBody>
      </p:sp>
      <p:pic>
        <p:nvPicPr>
          <p:cNvPr id="6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22008" y="2825496"/>
            <a:ext cx="146304" cy="146304"/>
          </a:xfrm>
          <a:prstGeom prst="rect">
            <a:avLst/>
          </a:prstGeom>
        </p:spPr>
      </p:pic>
      <p:sp>
        <p:nvSpPr>
          <p:cNvPr id="66" name="Text 39"/>
          <p:cNvSpPr/>
          <p:nvPr/>
        </p:nvSpPr>
        <p:spPr>
          <a:xfrm>
            <a:off x="713232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GST-ready receipts</a:t>
            </a:r>
            <a:endParaRPr lang="en-US" sz="950" dirty="0"/>
          </a:p>
        </p:txBody>
      </p:sp>
      <p:sp>
        <p:nvSpPr>
          <p:cNvPr id="67" name="Shape 40"/>
          <p:cNvSpPr/>
          <p:nvPr/>
        </p:nvSpPr>
        <p:spPr>
          <a:xfrm>
            <a:off x="228600" y="3657600"/>
            <a:ext cx="86868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8" name="Text 41"/>
          <p:cNvSpPr/>
          <p:nvPr/>
        </p:nvSpPr>
        <p:spPr>
          <a:xfrm>
            <a:off x="36576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</a:rPr>
              <a:t>Open API + Webhook Framework</a:t>
            </a:r>
            <a:endParaRPr lang="en-US" sz="1300" dirty="0"/>
          </a:p>
        </p:txBody>
      </p:sp>
      <p:pic>
        <p:nvPicPr>
          <p:cNvPr id="6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0040" y="4114800"/>
            <a:ext cx="164592" cy="164592"/>
          </a:xfrm>
          <a:prstGeom prst="rect">
            <a:avLst/>
          </a:prstGeom>
        </p:spPr>
      </p:pic>
      <p:sp>
        <p:nvSpPr>
          <p:cNvPr id="70" name="Text 42"/>
          <p:cNvSpPr/>
          <p:nvPr/>
        </p:nvSpPr>
        <p:spPr>
          <a:xfrm>
            <a:off x="548640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19 REST API endpoints for custom integrations</a:t>
            </a:r>
            <a:endParaRPr lang="en-US" sz="950" dirty="0"/>
          </a:p>
        </p:txBody>
      </p:sp>
      <p:pic>
        <p:nvPicPr>
          <p:cNvPr id="7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0040" y="4434840"/>
            <a:ext cx="164592" cy="164592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54864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Inbound webhook for any lead source</a:t>
            </a:r>
            <a:endParaRPr lang="en-US" sz="950" dirty="0"/>
          </a:p>
        </p:txBody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17720" y="4114800"/>
            <a:ext cx="164592" cy="164592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4846320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JWT authentication + role-based API access</a:t>
            </a:r>
            <a:endParaRPr lang="en-US" sz="950" dirty="0"/>
          </a:p>
        </p:txBody>
      </p:sp>
      <p:pic>
        <p:nvPicPr>
          <p:cNvPr id="7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17720" y="4434840"/>
            <a:ext cx="164592" cy="164592"/>
          </a:xfrm>
          <a:prstGeom prst="rect">
            <a:avLst/>
          </a:prstGeom>
        </p:spPr>
      </p:pic>
      <p:sp>
        <p:nvSpPr>
          <p:cNvPr id="76" name="Text 45"/>
          <p:cNvSpPr/>
          <p:nvPr/>
        </p:nvSpPr>
        <p:spPr>
          <a:xfrm>
            <a:off x="484632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Developer documentation + Postman collection on launch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Go-to-Market &amp; Pricing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Accessible pricing designed for the Indian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841248"/>
            <a:ext cx="2514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841248"/>
            <a:ext cx="25146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886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</a:rPr>
              <a:t>₹999/mo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0"/>
                </a:solidFill>
              </a:rPr>
              <a:t>For independent agents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23160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1 user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88336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868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Up to 500 leads/mo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2935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WhatsApp integration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18688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Basic pipeline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83864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Standard reports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749040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86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Email + SMS campaigns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014216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86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Mobile app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79392"/>
            <a:ext cx="146304" cy="1463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6868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Email support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731520" y="4251960"/>
            <a:ext cx="21488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731520" y="4251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Free Trial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3291840" y="841248"/>
            <a:ext cx="2514600" cy="3840480"/>
          </a:xfrm>
          <a:prstGeom prst="rect">
            <a:avLst/>
          </a:prstGeom>
          <a:solidFill>
            <a:srgbClr val="0F7173"/>
          </a:solidFill>
          <a:ln w="254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3291840" y="841248"/>
            <a:ext cx="251460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3291840" y="886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35" name="Text 25"/>
          <p:cNvSpPr/>
          <p:nvPr/>
        </p:nvSpPr>
        <p:spPr>
          <a:xfrm>
            <a:off x="32918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₹2,499/mo</a:t>
            </a:r>
            <a:endParaRPr lang="en-US" sz="2000" dirty="0"/>
          </a:p>
        </p:txBody>
      </p:sp>
      <p:sp>
        <p:nvSpPr>
          <p:cNvPr id="36" name="Text 26"/>
          <p:cNvSpPr/>
          <p:nvPr/>
        </p:nvSpPr>
        <p:spPr>
          <a:xfrm>
            <a:off x="329184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For growing brokerages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2423160"/>
            <a:ext cx="146304" cy="14630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1188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Up to 5 users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1568" y="268833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61188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Unlimited leads</a:t>
            </a:r>
            <a:endParaRPr lang="en-US" sz="9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568" y="2953512"/>
            <a:ext cx="146304" cy="14630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3611880" y="2935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 lead scoring</a:t>
            </a:r>
            <a:endParaRPr lang="en-US" sz="9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1568" y="3218688"/>
            <a:ext cx="146304" cy="146304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361188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integrations</a:t>
            </a:r>
            <a:endParaRPr lang="en-US" sz="9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1568" y="3483864"/>
            <a:ext cx="146304" cy="146304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3611880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Full analytics suite</a:t>
            </a:r>
            <a:endParaRPr lang="en-US" sz="9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1568" y="3749040"/>
            <a:ext cx="146304" cy="146304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36118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Workflow automation</a:t>
            </a:r>
            <a:endParaRPr lang="en-US" sz="90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1568" y="4014216"/>
            <a:ext cx="146304" cy="146304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36118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Commission calculator</a:t>
            </a:r>
            <a:endParaRPr lang="en-US" sz="9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01568" y="4279392"/>
            <a:ext cx="146304" cy="146304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361188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Priority support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3474720" y="4251960"/>
            <a:ext cx="21488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4" name="Text 36"/>
          <p:cNvSpPr/>
          <p:nvPr/>
        </p:nvSpPr>
        <p:spPr>
          <a:xfrm>
            <a:off x="3474720" y="4251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55" name="Shape 37"/>
          <p:cNvSpPr/>
          <p:nvPr/>
        </p:nvSpPr>
        <p:spPr>
          <a:xfrm>
            <a:off x="6035040" y="841248"/>
            <a:ext cx="2514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38"/>
          <p:cNvSpPr/>
          <p:nvPr/>
        </p:nvSpPr>
        <p:spPr>
          <a:xfrm>
            <a:off x="6035040" y="841248"/>
            <a:ext cx="2514600" cy="1188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7" name="Text 39"/>
          <p:cNvSpPr/>
          <p:nvPr/>
        </p:nvSpPr>
        <p:spPr>
          <a:xfrm>
            <a:off x="6035040" y="886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</a:t>
            </a:r>
            <a:endParaRPr lang="en-US" sz="1800" dirty="0"/>
          </a:p>
        </p:txBody>
      </p:sp>
      <p:sp>
        <p:nvSpPr>
          <p:cNvPr id="58" name="Text 40"/>
          <p:cNvSpPr/>
          <p:nvPr/>
        </p:nvSpPr>
        <p:spPr>
          <a:xfrm>
            <a:off x="60350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</a:rPr>
              <a:t>₹5,999/mo</a:t>
            </a:r>
            <a:endParaRPr lang="en-US" sz="2000" dirty="0"/>
          </a:p>
        </p:txBody>
      </p:sp>
      <p:sp>
        <p:nvSpPr>
          <p:cNvPr id="59" name="Text 41"/>
          <p:cNvSpPr/>
          <p:nvPr/>
        </p:nvSpPr>
        <p:spPr>
          <a:xfrm>
            <a:off x="603504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0"/>
                </a:solidFill>
              </a:rPr>
              <a:t>For large teams &amp; developers</a:t>
            </a:r>
            <a:endParaRPr lang="en-US" sz="900" dirty="0"/>
          </a:p>
        </p:txBody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4768" y="2423160"/>
            <a:ext cx="146304" cy="146304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635508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Up to 25 users</a:t>
            </a:r>
            <a:endParaRPr lang="en-US" sz="9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44768" y="2688336"/>
            <a:ext cx="146304" cy="146304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635508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Everything in Pro</a:t>
            </a:r>
            <a:endParaRPr lang="en-US" sz="900" dirty="0"/>
          </a:p>
        </p:txBody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44768" y="2953512"/>
            <a:ext cx="146304" cy="146304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6355080" y="2935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Custom AI workflows</a:t>
            </a:r>
            <a:endParaRPr lang="en-US" sz="900" dirty="0"/>
          </a:p>
        </p:txBody>
      </p:sp>
      <p:pic>
        <p:nvPicPr>
          <p:cNvPr id="6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44768" y="3218688"/>
            <a:ext cx="146304" cy="146304"/>
          </a:xfrm>
          <a:prstGeom prst="rect">
            <a:avLst/>
          </a:prstGeom>
        </p:spPr>
      </p:pic>
      <p:sp>
        <p:nvSpPr>
          <p:cNvPr id="67" name="Text 45"/>
          <p:cNvSpPr/>
          <p:nvPr/>
        </p:nvSpPr>
        <p:spPr>
          <a:xfrm>
            <a:off x="635508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API access</a:t>
            </a:r>
            <a:endParaRPr lang="en-US" sz="900" dirty="0"/>
          </a:p>
        </p:txBody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44768" y="3483864"/>
            <a:ext cx="146304" cy="146304"/>
          </a:xfrm>
          <a:prstGeom prst="rect">
            <a:avLst/>
          </a:prstGeom>
        </p:spPr>
      </p:pic>
      <p:sp>
        <p:nvSpPr>
          <p:cNvPr id="69" name="Text 46"/>
          <p:cNvSpPr/>
          <p:nvPr/>
        </p:nvSpPr>
        <p:spPr>
          <a:xfrm>
            <a:off x="6355080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White-label option</a:t>
            </a:r>
            <a:endParaRPr lang="en-US" sz="900" dirty="0"/>
          </a:p>
        </p:txBody>
      </p:sp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44768" y="3749040"/>
            <a:ext cx="146304" cy="146304"/>
          </a:xfrm>
          <a:prstGeom prst="rect">
            <a:avLst/>
          </a:prstGeom>
        </p:spPr>
      </p:pic>
      <p:sp>
        <p:nvSpPr>
          <p:cNvPr id="71" name="Text 47"/>
          <p:cNvSpPr/>
          <p:nvPr/>
        </p:nvSpPr>
        <p:spPr>
          <a:xfrm>
            <a:off x="63550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Dedicated onboarding</a:t>
            </a:r>
            <a:endParaRPr lang="en-US" sz="900" dirty="0"/>
          </a:p>
        </p:txBody>
      </p:sp>
      <p:pic>
        <p:nvPicPr>
          <p:cNvPr id="7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44768" y="4014216"/>
            <a:ext cx="146304" cy="146304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63550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Training sessions</a:t>
            </a:r>
            <a:endParaRPr lang="en-US" sz="900" dirty="0"/>
          </a:p>
        </p:txBody>
      </p:sp>
      <p:pic>
        <p:nvPicPr>
          <p:cNvPr id="7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44768" y="4279392"/>
            <a:ext cx="146304" cy="146304"/>
          </a:xfrm>
          <a:prstGeom prst="rect">
            <a:avLst/>
          </a:prstGeom>
        </p:spPr>
      </p:pic>
      <p:sp>
        <p:nvSpPr>
          <p:cNvPr id="75" name="Text 49"/>
          <p:cNvSpPr/>
          <p:nvPr/>
        </p:nvSpPr>
        <p:spPr>
          <a:xfrm>
            <a:off x="635508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SLA-backed support</a:t>
            </a:r>
            <a:endParaRPr lang="en-US" sz="900" dirty="0"/>
          </a:p>
        </p:txBody>
      </p:sp>
      <p:sp>
        <p:nvSpPr>
          <p:cNvPr id="76" name="Shape 50"/>
          <p:cNvSpPr/>
          <p:nvPr/>
        </p:nvSpPr>
        <p:spPr>
          <a:xfrm>
            <a:off x="6217920" y="4251960"/>
            <a:ext cx="2148840" cy="320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7" name="Text 51"/>
          <p:cNvSpPr/>
          <p:nvPr/>
        </p:nvSpPr>
        <p:spPr>
          <a:xfrm>
            <a:off x="6217920" y="4251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Contact Sales</a:t>
            </a:r>
            <a:endParaRPr lang="en-US" sz="1000" dirty="0"/>
          </a:p>
        </p:txBody>
      </p:sp>
      <p:sp>
        <p:nvSpPr>
          <p:cNvPr id="78" name="Shape 52"/>
          <p:cNvSpPr/>
          <p:nvPr/>
        </p:nvSpPr>
        <p:spPr>
          <a:xfrm>
            <a:off x="0" y="4681728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9" name="Text 53"/>
          <p:cNvSpPr/>
          <p:nvPr/>
        </p:nvSpPr>
        <p:spPr>
          <a:xfrm>
            <a:off x="182880" y="468172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A843"/>
                </a:solidFill>
              </a:rPr>
              <a:t>Annual plans: 20% discount  ·  All plans include 14-day free trial  ·  No credit card required to start  ·  Cancel anytime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 Roadmap — 6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From MVP to market-leading platform in 24 months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14400"/>
            <a:ext cx="283464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152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CRM Foundation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932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0–3 months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508760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PostgreSQL schema (9 tables)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801368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Lead ingestion + deduplication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93976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" y="2066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Basic pipeline &amp; contact mgmt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386584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WhatsApp WATI integration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15468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154680" y="914400"/>
            <a:ext cx="283464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15468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200400" y="1152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Automation &amp; Communication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800600" y="932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3–6 months</a:t>
            </a:r>
            <a:endParaRPr lang="en-US" sz="8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1508760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747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n8n workflow engine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1801368"/>
            <a:ext cx="146304" cy="1463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474720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Email/SMS campaigns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2093976"/>
            <a:ext cx="146304" cy="14630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474720" y="2066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Auto follow-up sequences</a:t>
            </a:r>
            <a:endParaRPr lang="en-US" sz="9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408" y="2386584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47472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Activity logging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612648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126480" y="914400"/>
            <a:ext cx="283464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12648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6172200" y="1152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Layer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7772400" y="932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6–10 months</a:t>
            </a:r>
            <a:endParaRPr lang="en-US" sz="8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1508760"/>
            <a:ext cx="146304" cy="14630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4465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Lead scoring model</a:t>
            </a:r>
            <a:endParaRPr lang="en-US" sz="9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6208" y="1801368"/>
            <a:ext cx="146304" cy="14630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446520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Draft message generator</a:t>
            </a:r>
            <a:endParaRPr lang="en-US" sz="9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6208" y="2093976"/>
            <a:ext cx="146304" cy="14630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446520" y="2066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Churn prediction alerts</a:t>
            </a:r>
            <a:endParaRPr lang="en-US" sz="9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208" y="2386584"/>
            <a:ext cx="146304" cy="14630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44652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Smart property matching</a:t>
            </a:r>
            <a:endParaRPr lang="en-US" sz="900" dirty="0"/>
          </a:p>
        </p:txBody>
      </p:sp>
      <p:sp>
        <p:nvSpPr>
          <p:cNvPr id="48" name="Shape 34"/>
          <p:cNvSpPr/>
          <p:nvPr/>
        </p:nvSpPr>
        <p:spPr>
          <a:xfrm>
            <a:off x="182880" y="28803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35"/>
          <p:cNvSpPr/>
          <p:nvPr/>
        </p:nvSpPr>
        <p:spPr>
          <a:xfrm>
            <a:off x="182880" y="2880360"/>
            <a:ext cx="28346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182880" y="28986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51" name="Text 37"/>
          <p:cNvSpPr/>
          <p:nvPr/>
        </p:nvSpPr>
        <p:spPr>
          <a:xfrm>
            <a:off x="2286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Analytics Suite</a:t>
            </a:r>
            <a:endParaRPr lang="en-US" sz="1050" dirty="0"/>
          </a:p>
        </p:txBody>
      </p:sp>
      <p:sp>
        <p:nvSpPr>
          <p:cNvPr id="52" name="Text 38"/>
          <p:cNvSpPr/>
          <p:nvPr/>
        </p:nvSpPr>
        <p:spPr>
          <a:xfrm>
            <a:off x="1828800" y="2898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10–14 months</a:t>
            </a:r>
            <a:endParaRPr lang="en-US" sz="8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608" y="3474720"/>
            <a:ext cx="146304" cy="14630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502920" y="3447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Full dashboard suite</a:t>
            </a:r>
            <a:endParaRPr lang="en-US" sz="900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608" y="3767328"/>
            <a:ext cx="146304" cy="146304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502920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Revenue forecasting</a:t>
            </a:r>
            <a:endParaRPr lang="en-US" sz="90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2608" y="4059936"/>
            <a:ext cx="146304" cy="146304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5029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Team leaderboards</a:t>
            </a:r>
            <a:endParaRPr lang="en-US" sz="90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08" y="4352544"/>
            <a:ext cx="146304" cy="146304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502920" y="4325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Custom report builder</a:t>
            </a:r>
            <a:endParaRPr lang="en-US" sz="900" dirty="0"/>
          </a:p>
        </p:txBody>
      </p:sp>
      <p:sp>
        <p:nvSpPr>
          <p:cNvPr id="61" name="Shape 43"/>
          <p:cNvSpPr/>
          <p:nvPr/>
        </p:nvSpPr>
        <p:spPr>
          <a:xfrm>
            <a:off x="3154680" y="28803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44"/>
          <p:cNvSpPr/>
          <p:nvPr/>
        </p:nvSpPr>
        <p:spPr>
          <a:xfrm>
            <a:off x="3154680" y="2880360"/>
            <a:ext cx="28346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3" name="Text 45"/>
          <p:cNvSpPr/>
          <p:nvPr/>
        </p:nvSpPr>
        <p:spPr>
          <a:xfrm>
            <a:off x="3154680" y="28986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64" name="Text 46"/>
          <p:cNvSpPr/>
          <p:nvPr/>
        </p:nvSpPr>
        <p:spPr>
          <a:xfrm>
            <a:off x="32004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Mobile &amp; Scale</a:t>
            </a:r>
            <a:endParaRPr lang="en-US" sz="1050" dirty="0"/>
          </a:p>
        </p:txBody>
      </p:sp>
      <p:sp>
        <p:nvSpPr>
          <p:cNvPr id="65" name="Text 47"/>
          <p:cNvSpPr/>
          <p:nvPr/>
        </p:nvSpPr>
        <p:spPr>
          <a:xfrm>
            <a:off x="4800600" y="2898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14–18 months</a:t>
            </a:r>
            <a:endParaRPr lang="en-US" sz="800" dirty="0"/>
          </a:p>
        </p:txBody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4408" y="3474720"/>
            <a:ext cx="146304" cy="146304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3474720" y="3447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React Native mobile app</a:t>
            </a:r>
            <a:endParaRPr lang="en-US" sz="900" dirty="0"/>
          </a:p>
        </p:txBody>
      </p:sp>
      <p:pic>
        <p:nvPicPr>
          <p:cNvPr id="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64408" y="3767328"/>
            <a:ext cx="146304" cy="146304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3474720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Offline-first features</a:t>
            </a:r>
            <a:endParaRPr lang="en-US" sz="900" dirty="0"/>
          </a:p>
        </p:txBody>
      </p:sp>
      <p:pic>
        <p:nvPicPr>
          <p:cNvPr id="7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64408" y="4059936"/>
            <a:ext cx="146304" cy="146304"/>
          </a:xfrm>
          <a:prstGeom prst="rect">
            <a:avLst/>
          </a:prstGeom>
        </p:spPr>
      </p:pic>
      <p:sp>
        <p:nvSpPr>
          <p:cNvPr id="71" name="Text 50"/>
          <p:cNvSpPr/>
          <p:nvPr/>
        </p:nvSpPr>
        <p:spPr>
          <a:xfrm>
            <a:off x="34747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Multi-brokerage tenant support</a:t>
            </a:r>
            <a:endParaRPr lang="en-US" sz="900" dirty="0"/>
          </a:p>
        </p:txBody>
      </p:sp>
      <p:pic>
        <p:nvPicPr>
          <p:cNvPr id="7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64408" y="4352544"/>
            <a:ext cx="146304" cy="146304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3474720" y="4325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API marketplace</a:t>
            </a:r>
            <a:endParaRPr lang="en-US" sz="900" dirty="0"/>
          </a:p>
        </p:txBody>
      </p:sp>
      <p:sp>
        <p:nvSpPr>
          <p:cNvPr id="74" name="Shape 52"/>
          <p:cNvSpPr/>
          <p:nvPr/>
        </p:nvSpPr>
        <p:spPr>
          <a:xfrm>
            <a:off x="6126480" y="28803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5" name="Shape 53"/>
          <p:cNvSpPr/>
          <p:nvPr/>
        </p:nvSpPr>
        <p:spPr>
          <a:xfrm>
            <a:off x="6126480" y="2880360"/>
            <a:ext cx="2834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6" name="Text 54"/>
          <p:cNvSpPr/>
          <p:nvPr/>
        </p:nvSpPr>
        <p:spPr>
          <a:xfrm>
            <a:off x="6126480" y="28986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77" name="Text 55"/>
          <p:cNvSpPr/>
          <p:nvPr/>
        </p:nvSpPr>
        <p:spPr>
          <a:xfrm>
            <a:off x="61722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Market Expansion</a:t>
            </a:r>
            <a:endParaRPr lang="en-US" sz="1050" dirty="0"/>
          </a:p>
        </p:txBody>
      </p:sp>
      <p:sp>
        <p:nvSpPr>
          <p:cNvPr id="78" name="Text 56"/>
          <p:cNvSpPr/>
          <p:nvPr/>
        </p:nvSpPr>
        <p:spPr>
          <a:xfrm>
            <a:off x="7772400" y="2898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18–24 months</a:t>
            </a:r>
            <a:endParaRPr lang="en-US" sz="800" dirty="0"/>
          </a:p>
        </p:txBody>
      </p:sp>
      <p:pic>
        <p:nvPicPr>
          <p:cNvPr id="7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6208" y="3474720"/>
            <a:ext cx="146304" cy="146304"/>
          </a:xfrm>
          <a:prstGeom prst="rect">
            <a:avLst/>
          </a:prstGeom>
        </p:spPr>
      </p:pic>
      <p:sp>
        <p:nvSpPr>
          <p:cNvPr id="80" name="Text 57"/>
          <p:cNvSpPr/>
          <p:nvPr/>
        </p:nvSpPr>
        <p:spPr>
          <a:xfrm>
            <a:off x="6446520" y="3447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White-label for brokerages</a:t>
            </a:r>
            <a:endParaRPr lang="en-US" sz="900" dirty="0"/>
          </a:p>
        </p:txBody>
      </p:sp>
      <p:pic>
        <p:nvPicPr>
          <p:cNvPr id="8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36208" y="3767328"/>
            <a:ext cx="146304" cy="146304"/>
          </a:xfrm>
          <a:prstGeom prst="rect">
            <a:avLst/>
          </a:prstGeom>
        </p:spPr>
      </p:pic>
      <p:sp>
        <p:nvSpPr>
          <p:cNvPr id="82" name="Text 58"/>
          <p:cNvSpPr/>
          <p:nvPr/>
        </p:nvSpPr>
        <p:spPr>
          <a:xfrm>
            <a:off x="6446520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PropTech partner integrations</a:t>
            </a:r>
            <a:endParaRPr lang="en-US" sz="900" dirty="0"/>
          </a:p>
        </p:txBody>
      </p:sp>
      <p:pic>
        <p:nvPicPr>
          <p:cNvPr id="8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6208" y="4059936"/>
            <a:ext cx="146304" cy="146304"/>
          </a:xfrm>
          <a:prstGeom prst="rect">
            <a:avLst/>
          </a:prstGeom>
        </p:spPr>
      </p:pic>
      <p:sp>
        <p:nvSpPr>
          <p:cNvPr id="84" name="Text 59"/>
          <p:cNvSpPr/>
          <p:nvPr/>
        </p:nvSpPr>
        <p:spPr>
          <a:xfrm>
            <a:off x="64465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International markets (UAE, SEA)</a:t>
            </a:r>
            <a:endParaRPr lang="en-US" sz="900" dirty="0"/>
          </a:p>
        </p:txBody>
      </p:sp>
      <p:pic>
        <p:nvPicPr>
          <p:cNvPr id="8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36208" y="4352544"/>
            <a:ext cx="146304" cy="146304"/>
          </a:xfrm>
          <a:prstGeom prst="rect">
            <a:avLst/>
          </a:prstGeom>
        </p:spPr>
      </p:pic>
      <p:sp>
        <p:nvSpPr>
          <p:cNvPr id="86" name="Text 60"/>
          <p:cNvSpPr/>
          <p:nvPr/>
        </p:nvSpPr>
        <p:spPr>
          <a:xfrm>
            <a:off x="6446520" y="4325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IPO-ready metrics reporting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F40"/>
          </a:solidFill>
          <a:ln w="12700">
            <a:solidFill>
              <a:srgbClr val="111F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Vitrag CRM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051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India-First by Design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" y="149047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Built specifically for Indian real estate — RERA compliance, ₹ currency, portal integrations with 99acres/MagicBricks, and Indian naming conventions baked in. Not retrofitted.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63824" y="96012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63824" y="96012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097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1051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WhatsApp as a Core Feature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91840" y="149047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The only CRM where WhatsApp is a first-class channel — not a bolt-on. Native two-way messaging, broadcast sequences, and full chat history within the lead record.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44768" y="96012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44768" y="96012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0972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7688" y="1051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AI that Works for Realtors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72784" y="149047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Scoring, drafting, churn prediction — AI trained on real estate workflows, not generic sales. Actionable, not just informational.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82880" y="288036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82880" y="288036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0175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Priced for the Indian Market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10896" y="341071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Starting ₹999/mo — 10x more accessible than Salesforce/HubSpot, with more real estate–specific functionality than both combined.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163824" y="288036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163824" y="288036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301752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66744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Automation Without Developers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291840" y="341071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Visual workflow builder, no-code. A solo realtor can set up a full follow-up SOP in 30 minutes with no technical knowledge.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44768" y="288036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44768" y="288036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01752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47688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One Platform, Zero Gaps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72784" y="341071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Lead capture → scoring → pipeline → communication → reporting → commission tracking. No stitching together 5 different tools.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Next Steps &amp; Call to 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What happens from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896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96112"/>
            <a:ext cx="50292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3619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969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Finalise Developer Brief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139903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Handover this PPT + the technical blueprint doc to the development team. Validate tech stack choices and confirm Phase 1 scope.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54680" y="896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54680" y="896112"/>
            <a:ext cx="502920" cy="1737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54680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53619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49040" y="969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Recruit Development Team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49040" y="139903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Minimum viable team: 1 Full-Stack Dev, 1 Backend/DB specialist, 1 UI/UX designer. Consider agency vs. freelance vs. co-founder.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26480" y="896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26480" y="896112"/>
            <a:ext cx="502920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26480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3619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20840" y="969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MVP in 12 Weeks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720840" y="139903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Phase 1 deliverables: Lead ingestion, WhatsApp integration, basic pipeline, deduplication, mobile-responsive web app. Beta with 10 realtors.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82880" y="281635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82880" y="2816352"/>
            <a:ext cx="502920" cy="1737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8288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5643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77240" y="28895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Beta Launch — Bangalore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77240" y="3319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Start with Bangalore residential market. Onboard 50 agents free. Gather feedback. Iterate monthly. Prove retention before scale.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154680" y="281635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154680" y="2816352"/>
            <a:ext cx="502920" cy="1737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15468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3456432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49040" y="28895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Paid Launch &amp; Scale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749040" y="3319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Convert beta users to paid. Launch content marketing + LinkedIn + realtor communities. Target 500 paying users by Month 12.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126480" y="281635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26480" y="2816352"/>
            <a:ext cx="502920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12648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456432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720840" y="28895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Productize for Brokerages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720840" y="3319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White-label + multi-tenant build. Approach top-20 Bangalore brokerages for bulk licensing. Institutional revenue channel opens.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">
            <a:off x="5669280" y="0"/>
            <a:ext cx="4572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FFFFFF"/>
                </a:solidFill>
              </a:rPr>
              <a:t>VITRAG CRM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</a:rPr>
              <a:t>The Future of Indian Real Estate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75488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18 slides. 10 modules. 1 vision.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Indian real estate market needs a CRM built for 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Vitrag is that CRM.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Let's Build This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Prepared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731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Vitrag CRM Team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286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Contact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1645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hello@vitragcrm.com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938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vitragcrm.com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2286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Version 1.0 | Confidential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Do not distribute without permission.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920240"/>
            <a:ext cx="8823960" cy="1371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</a:rPr>
              <a:t>COMPETITIVE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D4A843"/>
                </a:solidFill>
              </a:rPr>
              <a:t>INTELLIGENCE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10 CRMs · 11 Modules · 123 Features — Every feature compiled, verified &amp; rated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Sell.do  ·  Salesforce  ·  Erino  ·  Sysbi  ·  S-Link  ·  HubSpot  ·  Wise Agent  ·  Pipedrive  ·  LionDesk  ·  Real Geeks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8872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✓ Full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3474720"/>
            <a:ext cx="118872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474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950B"/>
                </a:solidFill>
              </a:rPr>
              <a:t>~ Partial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474720"/>
            <a:ext cx="118872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474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B21"/>
                </a:solidFill>
              </a:rPr>
              <a:t>✗ 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01 — Lead Management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Multi-source lead capture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486553"/>
            <a:ext cx="3200400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486553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WhatsApp lead capture &amp; messaging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486553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266944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242048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900416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558784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17152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875520" y="1486553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4865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747810"/>
            <a:ext cx="3200400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747810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India portal integration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747810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266944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925312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583680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242048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900416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558784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217152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747810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7478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009067"/>
            <a:ext cx="3200400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009067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FB / Google Ads lead import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009067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009067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0090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270325"/>
            <a:ext cx="3200400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270325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lead scoring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270325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270325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2703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2531582"/>
            <a:ext cx="3200400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531582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Lead deduplication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531582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531582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5315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91440" y="2792839"/>
            <a:ext cx="3200400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2792839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Auto assignment (round-robin/rules)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2792839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925312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6583680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7242048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3" name="Shape 191"/>
          <p:cNvSpPr/>
          <p:nvPr/>
        </p:nvSpPr>
        <p:spPr>
          <a:xfrm>
            <a:off x="7900416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8558784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9217152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9875520" y="2792839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27928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91440" y="3054096"/>
            <a:ext cx="3200400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054096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Lead segmentation &amp; bucketing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054096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054096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054096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91440" y="3315353"/>
            <a:ext cx="3200400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315353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Real-time stuck deal alerts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315353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315353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315353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91440" y="3576610"/>
            <a:ext cx="3200400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3576610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Lead chatbot / AI auto-responder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3576610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4608576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5266944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5925312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6583680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7242048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7900416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9217152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3576610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3576610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3" name="Shape 271"/>
          <p:cNvSpPr/>
          <p:nvPr/>
        </p:nvSpPr>
        <p:spPr>
          <a:xfrm>
            <a:off x="91440" y="3837867"/>
            <a:ext cx="3200400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3837867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Home valuation landing pages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3837867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4608576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5266944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5925312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6583680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7242048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7900416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8558784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9217152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5" name="Shape 293"/>
          <p:cNvSpPr/>
          <p:nvPr/>
        </p:nvSpPr>
        <p:spPr>
          <a:xfrm>
            <a:off x="9875520" y="3837867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3837867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91440" y="4099125"/>
            <a:ext cx="3200400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37160" y="4099125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Forced IDX registration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3291840" y="4099125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291840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01" name="Shape 299"/>
          <p:cNvSpPr/>
          <p:nvPr/>
        </p:nvSpPr>
        <p:spPr>
          <a:xfrm>
            <a:off x="3950208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950208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4608576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4608576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5266944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266944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5925312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5925312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6583680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583680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7242048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242048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7900416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7900416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8558784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8558784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9217152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217152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9" name="Shape 317"/>
          <p:cNvSpPr/>
          <p:nvPr/>
        </p:nvSpPr>
        <p:spPr>
          <a:xfrm>
            <a:off x="9875520" y="4099125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75520" y="4099125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91440" y="4360382"/>
            <a:ext cx="3200400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137160" y="4360382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Yard sign / SMS keyword capture</a:t>
            </a:r>
            <a:endParaRPr lang="en-US" sz="800" dirty="0"/>
          </a:p>
        </p:txBody>
      </p:sp>
      <p:sp>
        <p:nvSpPr>
          <p:cNvPr id="323" name="Shape 321"/>
          <p:cNvSpPr/>
          <p:nvPr/>
        </p:nvSpPr>
        <p:spPr>
          <a:xfrm>
            <a:off x="3291840" y="4360382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3291840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25" name="Shape 323"/>
          <p:cNvSpPr/>
          <p:nvPr/>
        </p:nvSpPr>
        <p:spPr>
          <a:xfrm>
            <a:off x="3950208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3950208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4608576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4608576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5266944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5266944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5925312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5925312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3" name="Shape 331"/>
          <p:cNvSpPr/>
          <p:nvPr/>
        </p:nvSpPr>
        <p:spPr>
          <a:xfrm>
            <a:off x="6583680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6583680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5" name="Shape 333"/>
          <p:cNvSpPr/>
          <p:nvPr/>
        </p:nvSpPr>
        <p:spPr>
          <a:xfrm>
            <a:off x="7242048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7242048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7" name="Shape 335"/>
          <p:cNvSpPr/>
          <p:nvPr/>
        </p:nvSpPr>
        <p:spPr>
          <a:xfrm>
            <a:off x="7900416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7900416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8558784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8558784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41" name="Shape 339"/>
          <p:cNvSpPr/>
          <p:nvPr/>
        </p:nvSpPr>
        <p:spPr>
          <a:xfrm>
            <a:off x="9217152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9217152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9875520" y="4360382"/>
            <a:ext cx="658368" cy="261257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9875520" y="4360382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91440" y="4621639"/>
            <a:ext cx="3200400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137160" y="4621639"/>
            <a:ext cx="312724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Lead source tracking &amp; attribution</a:t>
            </a:r>
            <a:endParaRPr lang="en-US" sz="800" dirty="0"/>
          </a:p>
        </p:txBody>
      </p:sp>
      <p:sp>
        <p:nvSpPr>
          <p:cNvPr id="347" name="Shape 345"/>
          <p:cNvSpPr/>
          <p:nvPr/>
        </p:nvSpPr>
        <p:spPr>
          <a:xfrm>
            <a:off x="3291840" y="4621639"/>
            <a:ext cx="658368" cy="261257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3291840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49" name="Shape 347"/>
          <p:cNvSpPr/>
          <p:nvPr/>
        </p:nvSpPr>
        <p:spPr>
          <a:xfrm>
            <a:off x="3950208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3950208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1" name="Shape 349"/>
          <p:cNvSpPr/>
          <p:nvPr/>
        </p:nvSpPr>
        <p:spPr>
          <a:xfrm>
            <a:off x="4608576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4608576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3" name="Shape 351"/>
          <p:cNvSpPr/>
          <p:nvPr/>
        </p:nvSpPr>
        <p:spPr>
          <a:xfrm>
            <a:off x="5266944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5266944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5" name="Shape 353"/>
          <p:cNvSpPr/>
          <p:nvPr/>
        </p:nvSpPr>
        <p:spPr>
          <a:xfrm>
            <a:off x="5925312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5925312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7" name="Shape 355"/>
          <p:cNvSpPr/>
          <p:nvPr/>
        </p:nvSpPr>
        <p:spPr>
          <a:xfrm>
            <a:off x="6583680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6583680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9" name="Shape 357"/>
          <p:cNvSpPr/>
          <p:nvPr/>
        </p:nvSpPr>
        <p:spPr>
          <a:xfrm>
            <a:off x="7242048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7242048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1" name="Shape 359"/>
          <p:cNvSpPr/>
          <p:nvPr/>
        </p:nvSpPr>
        <p:spPr>
          <a:xfrm>
            <a:off x="7900416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7900416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3" name="Shape 361"/>
          <p:cNvSpPr/>
          <p:nvPr/>
        </p:nvSpPr>
        <p:spPr>
          <a:xfrm>
            <a:off x="8558784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8558784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5" name="Shape 363"/>
          <p:cNvSpPr/>
          <p:nvPr/>
        </p:nvSpPr>
        <p:spPr>
          <a:xfrm>
            <a:off x="9217152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9217152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7" name="Shape 365"/>
          <p:cNvSpPr/>
          <p:nvPr/>
        </p:nvSpPr>
        <p:spPr>
          <a:xfrm>
            <a:off x="9875520" y="4621639"/>
            <a:ext cx="658368" cy="261257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9875520" y="4621639"/>
            <a:ext cx="658368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9" name="Shape 367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1" name="Text 369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72" name="Shape 370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73" name="Text 371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71%</a:t>
            </a:r>
            <a:endParaRPr lang="en-US" sz="700" dirty="0"/>
          </a:p>
        </p:txBody>
      </p:sp>
      <p:sp>
        <p:nvSpPr>
          <p:cNvPr id="374" name="Shape 372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5" name="Text 373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61%</a:t>
            </a:r>
            <a:endParaRPr lang="en-US" sz="700" dirty="0"/>
          </a:p>
        </p:txBody>
      </p:sp>
      <p:sp>
        <p:nvSpPr>
          <p:cNvPr id="376" name="Shape 374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75%</a:t>
            </a:r>
            <a:endParaRPr lang="en-US" sz="700" dirty="0"/>
          </a:p>
        </p:txBody>
      </p:sp>
      <p:sp>
        <p:nvSpPr>
          <p:cNvPr id="378" name="Shape 376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79" name="Text 377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64%</a:t>
            </a:r>
            <a:endParaRPr lang="en-US" sz="700" dirty="0"/>
          </a:p>
        </p:txBody>
      </p:sp>
      <p:sp>
        <p:nvSpPr>
          <p:cNvPr id="380" name="Shape 378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81" name="Text 379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68%</a:t>
            </a:r>
            <a:endParaRPr lang="en-US" sz="700" dirty="0"/>
          </a:p>
        </p:txBody>
      </p:sp>
      <p:sp>
        <p:nvSpPr>
          <p:cNvPr id="382" name="Shape 380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46%</a:t>
            </a:r>
            <a:endParaRPr lang="en-US" sz="700" dirty="0"/>
          </a:p>
        </p:txBody>
      </p:sp>
      <p:sp>
        <p:nvSpPr>
          <p:cNvPr id="384" name="Shape 382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85" name="Text 383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46%</a:t>
            </a:r>
            <a:endParaRPr lang="en-US" sz="700" dirty="0"/>
          </a:p>
        </p:txBody>
      </p:sp>
      <p:sp>
        <p:nvSpPr>
          <p:cNvPr id="386" name="Shape 384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57%</a:t>
            </a:r>
            <a:endParaRPr lang="en-US" sz="700" dirty="0"/>
          </a:p>
        </p:txBody>
      </p:sp>
      <p:sp>
        <p:nvSpPr>
          <p:cNvPr id="388" name="Shape 386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89" name="Text 387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64%</a:t>
            </a:r>
            <a:endParaRPr lang="en-US" sz="700" dirty="0"/>
          </a:p>
        </p:txBody>
      </p:sp>
      <p:sp>
        <p:nvSpPr>
          <p:cNvPr id="390" name="Shape 388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91" name="Text 389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79%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02 — Pipeline &amp; Deal Mgmt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Visual Kanban pipeline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300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30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Multiple custom pipelines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30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42048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900416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58784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17152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875520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8348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8348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Deal value + probability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8348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66944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83680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2048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0416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558784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17152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1396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1396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Revenue / close date forecasting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1396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4444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4444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Won/lost tracking + reason tagging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4444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27492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749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Commission calculation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749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91440" y="30540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054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Commission split management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054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1440" y="33588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3588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Online unit booking + payment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3588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1440" y="36636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6636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closing probability score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6636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91440" y="39684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39684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Transaction / deal checklist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39684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4608576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5266944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1" name="Shape 259"/>
          <p:cNvSpPr/>
          <p:nvPr/>
        </p:nvSpPr>
        <p:spPr>
          <a:xfrm>
            <a:off x="6583680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7242048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7900416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9217152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1440" y="42732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4273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E-signature / doc execution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4273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4608576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5266944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5925312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6583680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7242048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7900416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1" name="Shape 289"/>
          <p:cNvSpPr/>
          <p:nvPr/>
        </p:nvSpPr>
        <p:spPr>
          <a:xfrm>
            <a:off x="8558784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9217152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9875520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91440" y="45780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37160" y="4578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Stage-change notifications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3291840" y="4578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29184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01" name="Shape 299"/>
          <p:cNvSpPr/>
          <p:nvPr/>
        </p:nvSpPr>
        <p:spPr>
          <a:xfrm>
            <a:off x="3950208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950208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03" name="Shape 301"/>
          <p:cNvSpPr/>
          <p:nvPr/>
        </p:nvSpPr>
        <p:spPr>
          <a:xfrm>
            <a:off x="4608576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4608576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05" name="Shape 303"/>
          <p:cNvSpPr/>
          <p:nvPr/>
        </p:nvSpPr>
        <p:spPr>
          <a:xfrm>
            <a:off x="5266944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266944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07" name="Shape 305"/>
          <p:cNvSpPr/>
          <p:nvPr/>
        </p:nvSpPr>
        <p:spPr>
          <a:xfrm>
            <a:off x="5925312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5925312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09" name="Shape 307"/>
          <p:cNvSpPr/>
          <p:nvPr/>
        </p:nvSpPr>
        <p:spPr>
          <a:xfrm>
            <a:off x="6583680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58368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1" name="Shape 309"/>
          <p:cNvSpPr/>
          <p:nvPr/>
        </p:nvSpPr>
        <p:spPr>
          <a:xfrm>
            <a:off x="7242048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242048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3" name="Shape 311"/>
          <p:cNvSpPr/>
          <p:nvPr/>
        </p:nvSpPr>
        <p:spPr>
          <a:xfrm>
            <a:off x="7900416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7900416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5" name="Shape 313"/>
          <p:cNvSpPr/>
          <p:nvPr/>
        </p:nvSpPr>
        <p:spPr>
          <a:xfrm>
            <a:off x="8558784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8558784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7" name="Shape 315"/>
          <p:cNvSpPr/>
          <p:nvPr/>
        </p:nvSpPr>
        <p:spPr>
          <a:xfrm>
            <a:off x="9217152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217152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9" name="Shape 317"/>
          <p:cNvSpPr/>
          <p:nvPr/>
        </p:nvSpPr>
        <p:spPr>
          <a:xfrm>
            <a:off x="9875520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7552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21" name="Shape 319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24" name="Shape 322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92%</a:t>
            </a:r>
            <a:endParaRPr lang="en-US" sz="700" dirty="0"/>
          </a:p>
        </p:txBody>
      </p:sp>
      <p:sp>
        <p:nvSpPr>
          <p:cNvPr id="326" name="Shape 324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75%</a:t>
            </a:r>
            <a:endParaRPr lang="en-US" sz="700" dirty="0"/>
          </a:p>
        </p:txBody>
      </p:sp>
      <p:sp>
        <p:nvSpPr>
          <p:cNvPr id="328" name="Shape 326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63%</a:t>
            </a:r>
            <a:endParaRPr lang="en-US" sz="700" dirty="0"/>
          </a:p>
        </p:txBody>
      </p:sp>
      <p:sp>
        <p:nvSpPr>
          <p:cNvPr id="330" name="Shape 328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71%</a:t>
            </a:r>
            <a:endParaRPr lang="en-US" sz="700" dirty="0"/>
          </a:p>
        </p:txBody>
      </p:sp>
      <p:sp>
        <p:nvSpPr>
          <p:cNvPr id="332" name="Shape 330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75%</a:t>
            </a:r>
            <a:endParaRPr lang="en-US" sz="700" dirty="0"/>
          </a:p>
        </p:txBody>
      </p:sp>
      <p:sp>
        <p:nvSpPr>
          <p:cNvPr id="334" name="Shape 332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54%</a:t>
            </a:r>
            <a:endParaRPr lang="en-US" sz="700" dirty="0"/>
          </a:p>
        </p:txBody>
      </p:sp>
      <p:sp>
        <p:nvSpPr>
          <p:cNvPr id="336" name="Shape 334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67%</a:t>
            </a:r>
            <a:endParaRPr lang="en-US" sz="700" dirty="0"/>
          </a:p>
        </p:txBody>
      </p:sp>
      <p:sp>
        <p:nvSpPr>
          <p:cNvPr id="338" name="Shape 336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71%</a:t>
            </a:r>
            <a:endParaRPr lang="en-US" sz="700" dirty="0"/>
          </a:p>
        </p:txBody>
      </p:sp>
      <p:sp>
        <p:nvSpPr>
          <p:cNvPr id="340" name="Shape 338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33%</a:t>
            </a:r>
            <a:endParaRPr lang="en-US" sz="700" dirty="0"/>
          </a:p>
        </p:txBody>
      </p:sp>
      <p:sp>
        <p:nvSpPr>
          <p:cNvPr id="342" name="Shape 340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75%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03 — Contact &amp; Client Mgmt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360° contact profile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9105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910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Custom fields / tags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9105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42048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900416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58784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217152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875520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95681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95681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Contact segmentation &amp; filtering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95681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66944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83680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2048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0416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558784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17152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32257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32257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Bulk import (Excel / CSV)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32257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68833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68833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Contact enrichment (auto-fill)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68833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440" y="305409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305409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Birthday / anniversary reminders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305409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4608576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925312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583680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7900416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8558784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9217152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91440" y="341985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4198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Client lifetime value tracking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41985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91440" y="378561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78561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KYC document collection (India)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78561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1440" y="415137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415137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Buyer preference profile (BHK/budget)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415137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4608576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266944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5" name="Shape 233"/>
          <p:cNvSpPr/>
          <p:nvPr/>
        </p:nvSpPr>
        <p:spPr>
          <a:xfrm>
            <a:off x="5925312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7242048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3" name="Shape 241"/>
          <p:cNvSpPr/>
          <p:nvPr/>
        </p:nvSpPr>
        <p:spPr>
          <a:xfrm>
            <a:off x="8558784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7" name="Shape 245"/>
          <p:cNvSpPr/>
          <p:nvPr/>
        </p:nvSpPr>
        <p:spPr>
          <a:xfrm>
            <a:off x="9875520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91440" y="451713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451713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GDPR / data compliance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451713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4608576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7" name="Shape 255"/>
          <p:cNvSpPr/>
          <p:nvPr/>
        </p:nvSpPr>
        <p:spPr>
          <a:xfrm>
            <a:off x="5266944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5925312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1" name="Shape 259"/>
          <p:cNvSpPr/>
          <p:nvPr/>
        </p:nvSpPr>
        <p:spPr>
          <a:xfrm>
            <a:off x="6583680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7242048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7900416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7" name="Shape 265"/>
          <p:cNvSpPr/>
          <p:nvPr/>
        </p:nvSpPr>
        <p:spPr>
          <a:xfrm>
            <a:off x="8558784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9217152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85%</a:t>
            </a:r>
            <a:endParaRPr lang="en-US" sz="700" dirty="0"/>
          </a:p>
        </p:txBody>
      </p:sp>
      <p:sp>
        <p:nvSpPr>
          <p:cNvPr id="278" name="Shape 276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85%</a:t>
            </a:r>
            <a:endParaRPr lang="en-US" sz="700" dirty="0"/>
          </a:p>
        </p:txBody>
      </p:sp>
      <p:sp>
        <p:nvSpPr>
          <p:cNvPr id="280" name="Shape 278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70%</a:t>
            </a:r>
            <a:endParaRPr lang="en-US" sz="700" dirty="0"/>
          </a:p>
        </p:txBody>
      </p:sp>
      <p:sp>
        <p:nvSpPr>
          <p:cNvPr id="282" name="Shape 280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75%</a:t>
            </a:r>
            <a:endParaRPr lang="en-US" sz="700" dirty="0"/>
          </a:p>
        </p:txBody>
      </p:sp>
      <p:sp>
        <p:nvSpPr>
          <p:cNvPr id="284" name="Shape 282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85%</a:t>
            </a:r>
            <a:endParaRPr lang="en-US" sz="700" dirty="0"/>
          </a:p>
        </p:txBody>
      </p:sp>
      <p:sp>
        <p:nvSpPr>
          <p:cNvPr id="286" name="Shape 284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70%</a:t>
            </a:r>
            <a:endParaRPr lang="en-US" sz="700" dirty="0"/>
          </a:p>
        </p:txBody>
      </p:sp>
      <p:sp>
        <p:nvSpPr>
          <p:cNvPr id="288" name="Shape 286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75%</a:t>
            </a:r>
            <a:endParaRPr lang="en-US" sz="700" dirty="0"/>
          </a:p>
        </p:txBody>
      </p:sp>
      <p:sp>
        <p:nvSpPr>
          <p:cNvPr id="290" name="Shape 288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75%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60%</a:t>
            </a:r>
            <a:endParaRPr lang="en-US" sz="700" dirty="0"/>
          </a:p>
        </p:txBody>
      </p:sp>
      <p:sp>
        <p:nvSpPr>
          <p:cNvPr id="294" name="Shape 292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80%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04 — Property Inventory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Property listing management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9105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910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Unit-level availability tracking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9105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266944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25312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583680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242048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900416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558784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17152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875520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95681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95681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RERA number / compliance field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95681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266944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925312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583680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242048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900416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558784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217152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32257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32257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Floor plan / media library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32257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68833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68833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property-to-lead matching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68833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305409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305409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Digital brochure / microsite generator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305409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5266944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925312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583680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7242048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7900416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8558784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217152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91440" y="341985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4198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Price history &amp; revision log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41985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1440" y="378561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78561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IDX / MLS integration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78561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1440" y="415137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415137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Builder / developer module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415137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4608576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266944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925312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7242048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1440" y="451713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451713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Channel partner inventory access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451713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4608576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5266944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6583680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7242048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7900416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217152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90%</a:t>
            </a:r>
            <a:endParaRPr lang="en-US" sz="700" dirty="0"/>
          </a:p>
        </p:txBody>
      </p:sp>
      <p:sp>
        <p:nvSpPr>
          <p:cNvPr id="278" name="Shape 276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20%</a:t>
            </a:r>
            <a:endParaRPr lang="en-US" sz="700" dirty="0"/>
          </a:p>
        </p:txBody>
      </p:sp>
      <p:sp>
        <p:nvSpPr>
          <p:cNvPr id="280" name="Shape 278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10%</a:t>
            </a:r>
            <a:endParaRPr lang="en-US" sz="700" dirty="0"/>
          </a:p>
        </p:txBody>
      </p:sp>
      <p:sp>
        <p:nvSpPr>
          <p:cNvPr id="282" name="Shape 280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30%</a:t>
            </a:r>
            <a:endParaRPr lang="en-US" sz="700" dirty="0"/>
          </a:p>
        </p:txBody>
      </p:sp>
      <p:sp>
        <p:nvSpPr>
          <p:cNvPr id="284" name="Shape 282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25%</a:t>
            </a:r>
            <a:endParaRPr lang="en-US" sz="700" dirty="0"/>
          </a:p>
        </p:txBody>
      </p:sp>
      <p:sp>
        <p:nvSpPr>
          <p:cNvPr id="286" name="Shape 284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0%</a:t>
            </a:r>
            <a:endParaRPr lang="en-US" sz="700" dirty="0"/>
          </a:p>
        </p:txBody>
      </p:sp>
      <p:sp>
        <p:nvSpPr>
          <p:cNvPr id="288" name="Shape 286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0%</a:t>
            </a:r>
            <a:endParaRPr lang="en-US" sz="700" dirty="0"/>
          </a:p>
        </p:txBody>
      </p:sp>
      <p:sp>
        <p:nvSpPr>
          <p:cNvPr id="290" name="Shape 288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15%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50%</a:t>
            </a:r>
            <a:endParaRPr lang="en-US" sz="700" dirty="0"/>
          </a:p>
        </p:txBody>
      </p:sp>
      <p:sp>
        <p:nvSpPr>
          <p:cNvPr id="294" name="Shape 292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70%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05 — Communication &amp; Omnichannel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WhatsApp Business (native/BSP)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469136"/>
            <a:ext cx="3200400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46913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Email campaigns &amp; drip sequences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46913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42048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900416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58784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217152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875520" y="14691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4691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71297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71297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SMS / bulk text campaigns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71297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66944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83680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2048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0416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558784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17152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7129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7129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1956816"/>
            <a:ext cx="3200400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195681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Click-to-call from CRM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195681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66944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900416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558784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9217152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9875520" y="19568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19568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20065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20065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Cloud telephony / IVR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20065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2006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2006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2444496"/>
            <a:ext cx="3200400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44449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Call recording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44449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44449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4444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91440" y="268833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268833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Intelligent call routing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268833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925312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6583680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7242048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7900416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9217152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268833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26883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91440" y="2932176"/>
            <a:ext cx="3200400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293217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Power / auto dialer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293217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4608576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5266944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583680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7242048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8558784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1" name="Shape 219"/>
          <p:cNvSpPr/>
          <p:nvPr/>
        </p:nvSpPr>
        <p:spPr>
          <a:xfrm>
            <a:off x="9217152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293217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29321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91440" y="317601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17601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Unified inbox (all channels)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17601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17601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1760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91440" y="3419856"/>
            <a:ext cx="3200400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341985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DND / TRAI compliance (India)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341985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4608576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5266944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1" name="Shape 259"/>
          <p:cNvSpPr/>
          <p:nvPr/>
        </p:nvSpPr>
        <p:spPr>
          <a:xfrm>
            <a:off x="6583680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7242048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7900416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217152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341985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34198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3" name="Shape 271"/>
          <p:cNvSpPr/>
          <p:nvPr/>
        </p:nvSpPr>
        <p:spPr>
          <a:xfrm>
            <a:off x="91440" y="366369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366369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Multi-language communication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366369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4608576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5266944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5925312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6583680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7242048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7900416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8558784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9217152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9875520" y="366369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366369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91440" y="3907536"/>
            <a:ext cx="3200400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37160" y="390753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Video email / video texting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3291840" y="390753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291840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01" name="Shape 299"/>
          <p:cNvSpPr/>
          <p:nvPr/>
        </p:nvSpPr>
        <p:spPr>
          <a:xfrm>
            <a:off x="3950208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950208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4608576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4608576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5266944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266944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5925312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5925312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6583680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583680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1" name="Shape 309"/>
          <p:cNvSpPr/>
          <p:nvPr/>
        </p:nvSpPr>
        <p:spPr>
          <a:xfrm>
            <a:off x="7242048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242048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7900416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7900416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8558784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8558784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7" name="Shape 315"/>
          <p:cNvSpPr/>
          <p:nvPr/>
        </p:nvSpPr>
        <p:spPr>
          <a:xfrm>
            <a:off x="9217152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217152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9875520" y="390753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75520" y="390753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91440" y="415137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137160" y="415137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Email open / click tracking</a:t>
            </a:r>
            <a:endParaRPr lang="en-US" sz="800" dirty="0"/>
          </a:p>
        </p:txBody>
      </p:sp>
      <p:sp>
        <p:nvSpPr>
          <p:cNvPr id="323" name="Shape 321"/>
          <p:cNvSpPr/>
          <p:nvPr/>
        </p:nvSpPr>
        <p:spPr>
          <a:xfrm>
            <a:off x="3291840" y="415137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3291840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25" name="Shape 323"/>
          <p:cNvSpPr/>
          <p:nvPr/>
        </p:nvSpPr>
        <p:spPr>
          <a:xfrm>
            <a:off x="3950208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3950208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27" name="Shape 325"/>
          <p:cNvSpPr/>
          <p:nvPr/>
        </p:nvSpPr>
        <p:spPr>
          <a:xfrm>
            <a:off x="4608576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4608576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29" name="Shape 327"/>
          <p:cNvSpPr/>
          <p:nvPr/>
        </p:nvSpPr>
        <p:spPr>
          <a:xfrm>
            <a:off x="5266944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5266944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31" name="Shape 329"/>
          <p:cNvSpPr/>
          <p:nvPr/>
        </p:nvSpPr>
        <p:spPr>
          <a:xfrm>
            <a:off x="5925312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5925312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33" name="Shape 331"/>
          <p:cNvSpPr/>
          <p:nvPr/>
        </p:nvSpPr>
        <p:spPr>
          <a:xfrm>
            <a:off x="6583680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6583680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35" name="Shape 333"/>
          <p:cNvSpPr/>
          <p:nvPr/>
        </p:nvSpPr>
        <p:spPr>
          <a:xfrm>
            <a:off x="7242048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7242048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37" name="Shape 335"/>
          <p:cNvSpPr/>
          <p:nvPr/>
        </p:nvSpPr>
        <p:spPr>
          <a:xfrm>
            <a:off x="7900416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7900416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39" name="Shape 337"/>
          <p:cNvSpPr/>
          <p:nvPr/>
        </p:nvSpPr>
        <p:spPr>
          <a:xfrm>
            <a:off x="8558784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8558784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41" name="Shape 339"/>
          <p:cNvSpPr/>
          <p:nvPr/>
        </p:nvSpPr>
        <p:spPr>
          <a:xfrm>
            <a:off x="9217152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9217152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43" name="Shape 341"/>
          <p:cNvSpPr/>
          <p:nvPr/>
        </p:nvSpPr>
        <p:spPr>
          <a:xfrm>
            <a:off x="9875520" y="415137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9875520" y="415137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45" name="Shape 343"/>
          <p:cNvSpPr/>
          <p:nvPr/>
        </p:nvSpPr>
        <p:spPr>
          <a:xfrm>
            <a:off x="91440" y="4395216"/>
            <a:ext cx="3200400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137160" y="439521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Two-way email sync</a:t>
            </a:r>
            <a:endParaRPr lang="en-US" sz="800" dirty="0"/>
          </a:p>
        </p:txBody>
      </p:sp>
      <p:sp>
        <p:nvSpPr>
          <p:cNvPr id="347" name="Shape 345"/>
          <p:cNvSpPr/>
          <p:nvPr/>
        </p:nvSpPr>
        <p:spPr>
          <a:xfrm>
            <a:off x="3291840" y="439521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3291840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49" name="Shape 347"/>
          <p:cNvSpPr/>
          <p:nvPr/>
        </p:nvSpPr>
        <p:spPr>
          <a:xfrm>
            <a:off x="3950208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3950208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51" name="Shape 349"/>
          <p:cNvSpPr/>
          <p:nvPr/>
        </p:nvSpPr>
        <p:spPr>
          <a:xfrm>
            <a:off x="4608576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4608576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3" name="Shape 351"/>
          <p:cNvSpPr/>
          <p:nvPr/>
        </p:nvSpPr>
        <p:spPr>
          <a:xfrm>
            <a:off x="5266944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5266944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5" name="Shape 353"/>
          <p:cNvSpPr/>
          <p:nvPr/>
        </p:nvSpPr>
        <p:spPr>
          <a:xfrm>
            <a:off x="5925312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5925312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7" name="Shape 355"/>
          <p:cNvSpPr/>
          <p:nvPr/>
        </p:nvSpPr>
        <p:spPr>
          <a:xfrm>
            <a:off x="6583680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6583680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59" name="Shape 357"/>
          <p:cNvSpPr/>
          <p:nvPr/>
        </p:nvSpPr>
        <p:spPr>
          <a:xfrm>
            <a:off x="7242048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7242048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1" name="Shape 359"/>
          <p:cNvSpPr/>
          <p:nvPr/>
        </p:nvSpPr>
        <p:spPr>
          <a:xfrm>
            <a:off x="7900416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7900416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3" name="Shape 361"/>
          <p:cNvSpPr/>
          <p:nvPr/>
        </p:nvSpPr>
        <p:spPr>
          <a:xfrm>
            <a:off x="8558784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8558784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5" name="Shape 363"/>
          <p:cNvSpPr/>
          <p:nvPr/>
        </p:nvSpPr>
        <p:spPr>
          <a:xfrm>
            <a:off x="9217152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9217152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7" name="Shape 365"/>
          <p:cNvSpPr/>
          <p:nvPr/>
        </p:nvSpPr>
        <p:spPr>
          <a:xfrm>
            <a:off x="9875520" y="4395216"/>
            <a:ext cx="658368" cy="2438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9875520" y="439521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69" name="Shape 367"/>
          <p:cNvSpPr/>
          <p:nvPr/>
        </p:nvSpPr>
        <p:spPr>
          <a:xfrm>
            <a:off x="91440" y="4639056"/>
            <a:ext cx="3200400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137160" y="4639056"/>
            <a:ext cx="3127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Live chat / website widget</a:t>
            </a:r>
            <a:endParaRPr lang="en-US" sz="800" dirty="0"/>
          </a:p>
        </p:txBody>
      </p:sp>
      <p:sp>
        <p:nvSpPr>
          <p:cNvPr id="371" name="Shape 369"/>
          <p:cNvSpPr/>
          <p:nvPr/>
        </p:nvSpPr>
        <p:spPr>
          <a:xfrm>
            <a:off x="3291840" y="4639056"/>
            <a:ext cx="658368" cy="24384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3291840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3" name="Shape 371"/>
          <p:cNvSpPr/>
          <p:nvPr/>
        </p:nvSpPr>
        <p:spPr>
          <a:xfrm>
            <a:off x="3950208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3950208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75" name="Shape 373"/>
          <p:cNvSpPr/>
          <p:nvPr/>
        </p:nvSpPr>
        <p:spPr>
          <a:xfrm>
            <a:off x="4608576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4608576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77" name="Shape 375"/>
          <p:cNvSpPr/>
          <p:nvPr/>
        </p:nvSpPr>
        <p:spPr>
          <a:xfrm>
            <a:off x="5266944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78" name="Text 376"/>
          <p:cNvSpPr/>
          <p:nvPr/>
        </p:nvSpPr>
        <p:spPr>
          <a:xfrm>
            <a:off x="5266944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79" name="Shape 377"/>
          <p:cNvSpPr/>
          <p:nvPr/>
        </p:nvSpPr>
        <p:spPr>
          <a:xfrm>
            <a:off x="5925312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5925312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81" name="Shape 379"/>
          <p:cNvSpPr/>
          <p:nvPr/>
        </p:nvSpPr>
        <p:spPr>
          <a:xfrm>
            <a:off x="6583680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6583680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83" name="Shape 381"/>
          <p:cNvSpPr/>
          <p:nvPr/>
        </p:nvSpPr>
        <p:spPr>
          <a:xfrm>
            <a:off x="7242048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4" name="Text 382"/>
          <p:cNvSpPr/>
          <p:nvPr/>
        </p:nvSpPr>
        <p:spPr>
          <a:xfrm>
            <a:off x="7242048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85" name="Shape 383"/>
          <p:cNvSpPr/>
          <p:nvPr/>
        </p:nvSpPr>
        <p:spPr>
          <a:xfrm>
            <a:off x="7900416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6" name="Text 384"/>
          <p:cNvSpPr/>
          <p:nvPr/>
        </p:nvSpPr>
        <p:spPr>
          <a:xfrm>
            <a:off x="7900416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87" name="Shape 385"/>
          <p:cNvSpPr/>
          <p:nvPr/>
        </p:nvSpPr>
        <p:spPr>
          <a:xfrm>
            <a:off x="8558784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8558784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89" name="Shape 387"/>
          <p:cNvSpPr/>
          <p:nvPr/>
        </p:nvSpPr>
        <p:spPr>
          <a:xfrm>
            <a:off x="9217152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9217152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91" name="Shape 389"/>
          <p:cNvSpPr/>
          <p:nvPr/>
        </p:nvSpPr>
        <p:spPr>
          <a:xfrm>
            <a:off x="9875520" y="4639056"/>
            <a:ext cx="658368" cy="243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9875520" y="4639056"/>
            <a:ext cx="65836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3" name="Shape 391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95" name="Text 393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96" name="Shape 394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97" name="Text 395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83%</a:t>
            </a:r>
            <a:endParaRPr lang="en-US" sz="700" dirty="0"/>
          </a:p>
        </p:txBody>
      </p:sp>
      <p:sp>
        <p:nvSpPr>
          <p:cNvPr id="398" name="Shape 396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9" name="Text 397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73%</a:t>
            </a:r>
            <a:endParaRPr lang="en-US" sz="700" dirty="0"/>
          </a:p>
        </p:txBody>
      </p:sp>
      <p:sp>
        <p:nvSpPr>
          <p:cNvPr id="400" name="Shape 398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01" name="Text 399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70%</a:t>
            </a:r>
            <a:endParaRPr lang="en-US" sz="700" dirty="0"/>
          </a:p>
        </p:txBody>
      </p:sp>
      <p:sp>
        <p:nvSpPr>
          <p:cNvPr id="402" name="Shape 400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03" name="Text 401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67%</a:t>
            </a:r>
            <a:endParaRPr lang="en-US" sz="700" dirty="0"/>
          </a:p>
        </p:txBody>
      </p:sp>
      <p:sp>
        <p:nvSpPr>
          <p:cNvPr id="404" name="Shape 402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405" name="Text 403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73%</a:t>
            </a:r>
            <a:endParaRPr lang="en-US" sz="700" dirty="0"/>
          </a:p>
        </p:txBody>
      </p:sp>
      <p:sp>
        <p:nvSpPr>
          <p:cNvPr id="406" name="Shape 404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07" name="Text 405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37%</a:t>
            </a:r>
            <a:endParaRPr lang="en-US" sz="700" dirty="0"/>
          </a:p>
        </p:txBody>
      </p:sp>
      <p:sp>
        <p:nvSpPr>
          <p:cNvPr id="408" name="Shape 406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09" name="Text 407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37%</a:t>
            </a:r>
            <a:endParaRPr lang="en-US" sz="700" dirty="0"/>
          </a:p>
        </p:txBody>
      </p:sp>
      <p:sp>
        <p:nvSpPr>
          <p:cNvPr id="410" name="Shape 408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11" name="Text 409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70%</a:t>
            </a:r>
            <a:endParaRPr lang="en-US" sz="700" dirty="0"/>
          </a:p>
        </p:txBody>
      </p:sp>
      <p:sp>
        <p:nvSpPr>
          <p:cNvPr id="412" name="Shape 410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13" name="Text 411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40%</a:t>
            </a:r>
            <a:endParaRPr lang="en-US" sz="700" dirty="0"/>
          </a:p>
        </p:txBody>
      </p:sp>
      <p:sp>
        <p:nvSpPr>
          <p:cNvPr id="414" name="Shape 412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415" name="Text 413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93%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06 — Automation &amp; Workflow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No-code automation builder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57805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57805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Trigger-based if/then logic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57805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42048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900416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58784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217152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875520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890314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890314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Auto follow-up drip SOP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890314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66944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83680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2048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0416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558784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17152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222823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222823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Task auto-creation on stage change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222823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555332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555332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Ownership enforcement (no orphan leads)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555332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2887841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887841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Escalation rules (no response→reassign)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887841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91440" y="3220351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220351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Automated demand letters/agreements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220351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1440" y="3552860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552860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Payment reminder automation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552860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1440" y="3885369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885369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Automated property alerts to buyers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885369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91440" y="4217878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4217878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Pre-built automation templates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4217878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4608576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7" name="Shape 255"/>
          <p:cNvSpPr/>
          <p:nvPr/>
        </p:nvSpPr>
        <p:spPr>
          <a:xfrm>
            <a:off x="5266944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6583680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7242048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7900416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9217152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1440" y="4550387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4550387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Multi-channel automation (email+SMS+WA)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4550387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4608576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5266944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3" name="Shape 281"/>
          <p:cNvSpPr/>
          <p:nvPr/>
        </p:nvSpPr>
        <p:spPr>
          <a:xfrm>
            <a:off x="5925312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5" name="Shape 283"/>
          <p:cNvSpPr/>
          <p:nvPr/>
        </p:nvSpPr>
        <p:spPr>
          <a:xfrm>
            <a:off x="6583680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7242048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9" name="Shape 287"/>
          <p:cNvSpPr/>
          <p:nvPr/>
        </p:nvSpPr>
        <p:spPr>
          <a:xfrm>
            <a:off x="7900416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8558784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3" name="Shape 291"/>
          <p:cNvSpPr/>
          <p:nvPr/>
        </p:nvSpPr>
        <p:spPr>
          <a:xfrm>
            <a:off x="9217152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9875520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00" name="Shape 298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100%</a:t>
            </a:r>
            <a:endParaRPr lang="en-US" sz="700" dirty="0"/>
          </a:p>
        </p:txBody>
      </p:sp>
      <p:sp>
        <p:nvSpPr>
          <p:cNvPr id="302" name="Shape 300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68%</a:t>
            </a:r>
            <a:endParaRPr lang="en-US" sz="700" dirty="0"/>
          </a:p>
        </p:txBody>
      </p:sp>
      <p:sp>
        <p:nvSpPr>
          <p:cNvPr id="304" name="Shape 302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68%</a:t>
            </a:r>
            <a:endParaRPr lang="en-US" sz="700" dirty="0"/>
          </a:p>
        </p:txBody>
      </p:sp>
      <p:sp>
        <p:nvSpPr>
          <p:cNvPr id="306" name="Shape 304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68%</a:t>
            </a:r>
            <a:endParaRPr lang="en-US" sz="700" dirty="0"/>
          </a:p>
        </p:txBody>
      </p:sp>
      <p:sp>
        <p:nvSpPr>
          <p:cNvPr id="308" name="Shape 306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73%</a:t>
            </a:r>
            <a:endParaRPr lang="en-US" sz="700" dirty="0"/>
          </a:p>
        </p:txBody>
      </p:sp>
      <p:sp>
        <p:nvSpPr>
          <p:cNvPr id="310" name="Shape 308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73%</a:t>
            </a:r>
            <a:endParaRPr lang="en-US" sz="700" dirty="0"/>
          </a:p>
        </p:txBody>
      </p:sp>
      <p:sp>
        <p:nvSpPr>
          <p:cNvPr id="312" name="Shape 310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50%</a:t>
            </a:r>
            <a:endParaRPr lang="en-US" sz="700" dirty="0"/>
          </a:p>
        </p:txBody>
      </p:sp>
      <p:sp>
        <p:nvSpPr>
          <p:cNvPr id="314" name="Shape 312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73%</a:t>
            </a:r>
            <a:endParaRPr lang="en-US" sz="700" dirty="0"/>
          </a:p>
        </p:txBody>
      </p:sp>
      <p:sp>
        <p:nvSpPr>
          <p:cNvPr id="316" name="Shape 314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50%</a:t>
            </a:r>
            <a:endParaRPr lang="en-US" sz="700" dirty="0"/>
          </a:p>
        </p:txBody>
      </p:sp>
      <p:sp>
        <p:nvSpPr>
          <p:cNvPr id="318" name="Shape 316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82%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07 — AI &amp; Intelligence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lead scoring / ranking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06650"/>
            <a:ext cx="3200400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06650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call recording + transcription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06650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266944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583680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242048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900416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558784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17152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875520" y="1506650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06650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788004"/>
            <a:ext cx="3200400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788004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call sentiment analysis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788004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266944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583680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242048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900416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558784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217152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78800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78800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069358"/>
            <a:ext cx="3200400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069358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call summary generation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069358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06935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06935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350711"/>
            <a:ext cx="3200400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350711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Multi-language AI transcription (8+ langs)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350711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350711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35071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2632065"/>
            <a:ext cx="3200400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632065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Next best action suggestion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632065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632065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632065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91440" y="2913419"/>
            <a:ext cx="3200400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2913419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AI draft message / email generator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2913419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4608576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925312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6583680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7242048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7900416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9217152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9875520" y="2913419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2913419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91440" y="3194773"/>
            <a:ext cx="3200400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194773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Churn / cold lead prediction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194773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194773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194773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91440" y="3476127"/>
            <a:ext cx="3200400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476127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Objection pattern recognition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476127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476127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476127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1440" y="3757481"/>
            <a:ext cx="3200400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3757481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Rep performance quality score (AI)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3757481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4608576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7" name="Shape 255"/>
          <p:cNvSpPr/>
          <p:nvPr/>
        </p:nvSpPr>
        <p:spPr>
          <a:xfrm>
            <a:off x="5266944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5925312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6583680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7242048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7900416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217152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3757481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3757481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1440" y="4038834"/>
            <a:ext cx="3200400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4038834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Deal closing probability (AI)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4038834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4608576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5266944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3" name="Shape 281"/>
          <p:cNvSpPr/>
          <p:nvPr/>
        </p:nvSpPr>
        <p:spPr>
          <a:xfrm>
            <a:off x="5925312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6583680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7242048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7900416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8558784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9217152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9875520" y="4038834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4038834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91440" y="4320188"/>
            <a:ext cx="3200400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37160" y="4320188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Market pricing trend insights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3291840" y="4320188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291840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01" name="Shape 299"/>
          <p:cNvSpPr/>
          <p:nvPr/>
        </p:nvSpPr>
        <p:spPr>
          <a:xfrm>
            <a:off x="3950208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950208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03" name="Shape 301"/>
          <p:cNvSpPr/>
          <p:nvPr/>
        </p:nvSpPr>
        <p:spPr>
          <a:xfrm>
            <a:off x="4608576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4608576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5266944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266944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5925312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5925312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6583680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583680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7242048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242048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7900416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7900416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8558784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8558784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9217152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217152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9875520" y="4320188"/>
            <a:ext cx="658368" cy="28135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75520" y="4320188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91440" y="4601542"/>
            <a:ext cx="3200400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137160" y="4601542"/>
            <a:ext cx="312724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Smart property-to-buyer matching</a:t>
            </a:r>
            <a:endParaRPr lang="en-US" sz="800" dirty="0"/>
          </a:p>
        </p:txBody>
      </p:sp>
      <p:sp>
        <p:nvSpPr>
          <p:cNvPr id="323" name="Shape 321"/>
          <p:cNvSpPr/>
          <p:nvPr/>
        </p:nvSpPr>
        <p:spPr>
          <a:xfrm>
            <a:off x="3291840" y="4601542"/>
            <a:ext cx="658368" cy="28135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3291840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25" name="Shape 323"/>
          <p:cNvSpPr/>
          <p:nvPr/>
        </p:nvSpPr>
        <p:spPr>
          <a:xfrm>
            <a:off x="3950208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3950208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27" name="Shape 325"/>
          <p:cNvSpPr/>
          <p:nvPr/>
        </p:nvSpPr>
        <p:spPr>
          <a:xfrm>
            <a:off x="4608576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4608576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5266944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5266944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5925312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5925312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3" name="Shape 331"/>
          <p:cNvSpPr/>
          <p:nvPr/>
        </p:nvSpPr>
        <p:spPr>
          <a:xfrm>
            <a:off x="6583680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6583680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35" name="Shape 333"/>
          <p:cNvSpPr/>
          <p:nvPr/>
        </p:nvSpPr>
        <p:spPr>
          <a:xfrm>
            <a:off x="7242048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7242048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7" name="Shape 335"/>
          <p:cNvSpPr/>
          <p:nvPr/>
        </p:nvSpPr>
        <p:spPr>
          <a:xfrm>
            <a:off x="7900416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7900416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8558784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8558784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9217152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9217152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9875520" y="4601542"/>
            <a:ext cx="658368" cy="2813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9875520" y="4601542"/>
            <a:ext cx="658368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45" name="Shape 343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48" name="Shape 346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49" name="Text 347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77%</a:t>
            </a:r>
            <a:endParaRPr lang="en-US" sz="700" dirty="0"/>
          </a:p>
        </p:txBody>
      </p:sp>
      <p:sp>
        <p:nvSpPr>
          <p:cNvPr id="350" name="Shape 348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65%</a:t>
            </a:r>
            <a:endParaRPr lang="en-US" sz="700" dirty="0"/>
          </a:p>
        </p:txBody>
      </p:sp>
      <p:sp>
        <p:nvSpPr>
          <p:cNvPr id="352" name="Shape 350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73%</a:t>
            </a:r>
            <a:endParaRPr lang="en-US" sz="700" dirty="0"/>
          </a:p>
        </p:txBody>
      </p:sp>
      <p:sp>
        <p:nvSpPr>
          <p:cNvPr id="354" name="Shape 352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4%</a:t>
            </a:r>
            <a:endParaRPr lang="en-US" sz="700" dirty="0"/>
          </a:p>
        </p:txBody>
      </p:sp>
      <p:sp>
        <p:nvSpPr>
          <p:cNvPr id="356" name="Shape 354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50%</a:t>
            </a:r>
            <a:endParaRPr lang="en-US" sz="700" dirty="0"/>
          </a:p>
        </p:txBody>
      </p:sp>
      <p:sp>
        <p:nvSpPr>
          <p:cNvPr id="358" name="Shape 356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59" name="Text 357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4%</a:t>
            </a:r>
            <a:endParaRPr lang="en-US" sz="700" dirty="0"/>
          </a:p>
        </p:txBody>
      </p:sp>
      <p:sp>
        <p:nvSpPr>
          <p:cNvPr id="360" name="Shape 358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19%</a:t>
            </a:r>
            <a:endParaRPr lang="en-US" sz="700" dirty="0"/>
          </a:p>
        </p:txBody>
      </p:sp>
      <p:sp>
        <p:nvSpPr>
          <p:cNvPr id="362" name="Shape 360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63" name="Text 361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4%</a:t>
            </a:r>
            <a:endParaRPr lang="en-US" sz="700" dirty="0"/>
          </a:p>
        </p:txBody>
      </p:sp>
      <p:sp>
        <p:nvSpPr>
          <p:cNvPr id="364" name="Shape 362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31%</a:t>
            </a:r>
            <a:endParaRPr lang="en-US" sz="700" dirty="0"/>
          </a:p>
        </p:txBody>
      </p:sp>
      <p:sp>
        <p:nvSpPr>
          <p:cNvPr id="366" name="Shape 364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67" name="Text 365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88%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08 — Analytics &amp; Reporting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Real-time dashboard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300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30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Lead source ROI / CPL report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30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42048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900416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58784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217152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875520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8348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8348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Funnel / conversion rate report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8348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66944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83680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2048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0416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558784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17152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1396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1396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Agent performance / leaderboard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1396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4444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4444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Revenue forecast report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4444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27492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749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Campaign performance analytics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749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91440" y="30540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054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Win / loss analysis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054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91440" y="33588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3588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Custom report builder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3588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91440" y="36636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6636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Power BI / Tableau integration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6636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1440" y="39684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39684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Scheduled PDF / email exports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39684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4608576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7" name="Shape 255"/>
          <p:cNvSpPr/>
          <p:nvPr/>
        </p:nvSpPr>
        <p:spPr>
          <a:xfrm>
            <a:off x="5266944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1" name="Shape 259"/>
          <p:cNvSpPr/>
          <p:nvPr/>
        </p:nvSpPr>
        <p:spPr>
          <a:xfrm>
            <a:off x="6583680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7242048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7900416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7" name="Shape 265"/>
          <p:cNvSpPr/>
          <p:nvPr/>
        </p:nvSpPr>
        <p:spPr>
          <a:xfrm>
            <a:off x="8558784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217152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1440" y="42732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4273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SLA / response-time compliance report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4273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4608576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5266944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3" name="Shape 281"/>
          <p:cNvSpPr/>
          <p:nvPr/>
        </p:nvSpPr>
        <p:spPr>
          <a:xfrm>
            <a:off x="5925312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6583680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7242048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7900416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8558784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9217152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9875520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91440" y="45780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37160" y="4578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Website traffic &amp; lead behaviour analytics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3291840" y="4578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29184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01" name="Shape 299"/>
          <p:cNvSpPr/>
          <p:nvPr/>
        </p:nvSpPr>
        <p:spPr>
          <a:xfrm>
            <a:off x="3950208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950208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4608576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4608576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05" name="Shape 303"/>
          <p:cNvSpPr/>
          <p:nvPr/>
        </p:nvSpPr>
        <p:spPr>
          <a:xfrm>
            <a:off x="5266944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266944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5925312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5925312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6583680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58368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1" name="Shape 309"/>
          <p:cNvSpPr/>
          <p:nvPr/>
        </p:nvSpPr>
        <p:spPr>
          <a:xfrm>
            <a:off x="7242048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242048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7900416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7900416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8558784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8558784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9217152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217152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19" name="Shape 317"/>
          <p:cNvSpPr/>
          <p:nvPr/>
        </p:nvSpPr>
        <p:spPr>
          <a:xfrm>
            <a:off x="9875520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7552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24" name="Shape 322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96%</a:t>
            </a:r>
            <a:endParaRPr lang="en-US" sz="700" dirty="0"/>
          </a:p>
        </p:txBody>
      </p:sp>
      <p:sp>
        <p:nvSpPr>
          <p:cNvPr id="326" name="Shape 324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100%</a:t>
            </a:r>
            <a:endParaRPr lang="en-US" sz="700" dirty="0"/>
          </a:p>
        </p:txBody>
      </p:sp>
      <p:sp>
        <p:nvSpPr>
          <p:cNvPr id="328" name="Shape 326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79%</a:t>
            </a:r>
            <a:endParaRPr lang="en-US" sz="700" dirty="0"/>
          </a:p>
        </p:txBody>
      </p:sp>
      <p:sp>
        <p:nvSpPr>
          <p:cNvPr id="330" name="Shape 328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88%</a:t>
            </a:r>
            <a:endParaRPr lang="en-US" sz="700" dirty="0"/>
          </a:p>
        </p:txBody>
      </p:sp>
      <p:sp>
        <p:nvSpPr>
          <p:cNvPr id="332" name="Shape 330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100%</a:t>
            </a:r>
            <a:endParaRPr lang="en-US" sz="700" dirty="0"/>
          </a:p>
        </p:txBody>
      </p:sp>
      <p:sp>
        <p:nvSpPr>
          <p:cNvPr id="334" name="Shape 332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54%</a:t>
            </a:r>
            <a:endParaRPr lang="en-US" sz="700" dirty="0"/>
          </a:p>
        </p:txBody>
      </p:sp>
      <p:sp>
        <p:nvSpPr>
          <p:cNvPr id="336" name="Shape 334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88%</a:t>
            </a:r>
            <a:endParaRPr lang="en-US" sz="700" dirty="0"/>
          </a:p>
        </p:txBody>
      </p:sp>
      <p:sp>
        <p:nvSpPr>
          <p:cNvPr id="338" name="Shape 336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58%</a:t>
            </a:r>
            <a:endParaRPr lang="en-US" sz="700" dirty="0"/>
          </a:p>
        </p:txBody>
      </p:sp>
      <p:sp>
        <p:nvSpPr>
          <p:cNvPr id="340" name="Shape 338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58%</a:t>
            </a:r>
            <a:endParaRPr lang="en-US" sz="700" dirty="0"/>
          </a:p>
        </p:txBody>
      </p:sp>
      <p:sp>
        <p:nvSpPr>
          <p:cNvPr id="342" name="Shape 340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88%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09 — Team, Roles &amp; Process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Role-based access control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57805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57805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Hierarchy / org structure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57805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42048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900416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58784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17152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875520" y="1557805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57805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" y="1890314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890314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Lead routing by geography / specialisation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890314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66944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83680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2048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0416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558784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17152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890314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890314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222823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222823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Team activity audit trail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222823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222823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222823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1440" y="2555332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555332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Task assignment &amp; tracking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555332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555332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555332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91440" y="2887841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887841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Calendar sync (Google / Outlook)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887841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887841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88784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91440" y="3220351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220351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Approval workflows (discounts/bookings)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220351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220351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220351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91440" y="3552860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552860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Goal / target setting per agent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552860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552860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552860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91440" y="3885369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885369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HR / payroll module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885369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885369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885369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1440" y="4217878"/>
            <a:ext cx="3200400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4217878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Channel partner / broker management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4217878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4608576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5266944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6583680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7242048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7900416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217152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4217878"/>
            <a:ext cx="658368" cy="332509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4217878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3" name="Shape 271"/>
          <p:cNvSpPr/>
          <p:nvPr/>
        </p:nvSpPr>
        <p:spPr>
          <a:xfrm>
            <a:off x="91440" y="4550387"/>
            <a:ext cx="3200400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4550387"/>
            <a:ext cx="312724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Channel partner incentive calculator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4550387"/>
            <a:ext cx="658368" cy="332509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4608576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5266944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5925312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6583680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7242048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7900416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8558784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9217152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9875520" y="4550387"/>
            <a:ext cx="658368" cy="332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4550387"/>
            <a:ext cx="658368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00" name="Shape 298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91%</a:t>
            </a:r>
            <a:endParaRPr lang="en-US" sz="700" dirty="0"/>
          </a:p>
        </p:txBody>
      </p:sp>
      <p:sp>
        <p:nvSpPr>
          <p:cNvPr id="302" name="Shape 300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73%</a:t>
            </a:r>
            <a:endParaRPr lang="en-US" sz="700" dirty="0"/>
          </a:p>
        </p:txBody>
      </p:sp>
      <p:sp>
        <p:nvSpPr>
          <p:cNvPr id="304" name="Shape 302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68%</a:t>
            </a:r>
            <a:endParaRPr lang="en-US" sz="700" dirty="0"/>
          </a:p>
        </p:txBody>
      </p:sp>
      <p:sp>
        <p:nvSpPr>
          <p:cNvPr id="306" name="Shape 304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82%</a:t>
            </a:r>
            <a:endParaRPr lang="en-US" sz="700" dirty="0"/>
          </a:p>
        </p:txBody>
      </p:sp>
      <p:sp>
        <p:nvSpPr>
          <p:cNvPr id="308" name="Shape 306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73%</a:t>
            </a:r>
            <a:endParaRPr lang="en-US" sz="700" dirty="0"/>
          </a:p>
        </p:txBody>
      </p:sp>
      <p:sp>
        <p:nvSpPr>
          <p:cNvPr id="310" name="Shape 308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55%</a:t>
            </a:r>
            <a:endParaRPr lang="en-US" sz="700" dirty="0"/>
          </a:p>
        </p:txBody>
      </p:sp>
      <p:sp>
        <p:nvSpPr>
          <p:cNvPr id="312" name="Shape 310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64%</a:t>
            </a:r>
            <a:endParaRPr lang="en-US" sz="700" dirty="0"/>
          </a:p>
        </p:txBody>
      </p:sp>
      <p:sp>
        <p:nvSpPr>
          <p:cNvPr id="314" name="Shape 312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50%</a:t>
            </a:r>
            <a:endParaRPr lang="en-US" sz="700" dirty="0"/>
          </a:p>
        </p:txBody>
      </p:sp>
      <p:sp>
        <p:nvSpPr>
          <p:cNvPr id="316" name="Shape 314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50%</a:t>
            </a:r>
            <a:endParaRPr lang="en-US" sz="700" dirty="0"/>
          </a:p>
        </p:txBody>
      </p:sp>
      <p:sp>
        <p:nvSpPr>
          <p:cNvPr id="318" name="Shape 316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86%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10 — Post-Sales &amp; Retention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Post-booking communication automation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1440" y="159105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910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Demand letter / agreement generation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9105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266944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25312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583680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242048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900416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558784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17152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875520" y="159105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910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1440" y="195681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95681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Payment schedule tracking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95681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266944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925312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583680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242048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900416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558784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217152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95681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9568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91440" y="232257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32257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Payment reminder automation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32257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32257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3225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1440" y="268833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68833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KYC / loan processing support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68833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68833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6883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440" y="305409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305409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NPS / client satisfaction tracking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305409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4608576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925312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583680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7900416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8558784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217152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305409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305409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91440" y="341985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4198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Referral tracking &amp; management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41985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41985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41985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1440" y="378561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78561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Possession / handover tracker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78561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78561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78561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1440" y="415137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415137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Re-engagement / renewal campaigns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415137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4608576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5266944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925312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7242048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1" name="Shape 239"/>
          <p:cNvSpPr/>
          <p:nvPr/>
        </p:nvSpPr>
        <p:spPr>
          <a:xfrm>
            <a:off x="7900416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8558784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5" name="Shape 243"/>
          <p:cNvSpPr/>
          <p:nvPr/>
        </p:nvSpPr>
        <p:spPr>
          <a:xfrm>
            <a:off x="9217152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41513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4151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1440" y="4517136"/>
            <a:ext cx="3200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451713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Ticketing / complaint management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4517136"/>
            <a:ext cx="658368" cy="36576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4608576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7" name="Shape 255"/>
          <p:cNvSpPr/>
          <p:nvPr/>
        </p:nvSpPr>
        <p:spPr>
          <a:xfrm>
            <a:off x="5266944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1" name="Shape 259"/>
          <p:cNvSpPr/>
          <p:nvPr/>
        </p:nvSpPr>
        <p:spPr>
          <a:xfrm>
            <a:off x="6583680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7242048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7900416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8558784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217152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4517136"/>
            <a:ext cx="658368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451713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80%</a:t>
            </a:r>
            <a:endParaRPr lang="en-US" sz="700" dirty="0"/>
          </a:p>
        </p:txBody>
      </p:sp>
      <p:sp>
        <p:nvSpPr>
          <p:cNvPr id="278" name="Shape 276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45%</a:t>
            </a:r>
            <a:endParaRPr lang="en-US" sz="700" dirty="0"/>
          </a:p>
        </p:txBody>
      </p:sp>
      <p:sp>
        <p:nvSpPr>
          <p:cNvPr id="280" name="Shape 278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5%</a:t>
            </a:r>
            <a:endParaRPr lang="en-US" sz="700" dirty="0"/>
          </a:p>
        </p:txBody>
      </p:sp>
      <p:sp>
        <p:nvSpPr>
          <p:cNvPr id="282" name="Shape 280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40%</a:t>
            </a:r>
            <a:endParaRPr lang="en-US" sz="700" dirty="0"/>
          </a:p>
        </p:txBody>
      </p:sp>
      <p:sp>
        <p:nvSpPr>
          <p:cNvPr id="284" name="Shape 282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45%</a:t>
            </a:r>
            <a:endParaRPr lang="en-US" sz="700" dirty="0"/>
          </a:p>
        </p:txBody>
      </p:sp>
      <p:sp>
        <p:nvSpPr>
          <p:cNvPr id="286" name="Shape 284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25%</a:t>
            </a:r>
            <a:endParaRPr lang="en-US" sz="700" dirty="0"/>
          </a:p>
        </p:txBody>
      </p:sp>
      <p:sp>
        <p:nvSpPr>
          <p:cNvPr id="288" name="Shape 286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5%</a:t>
            </a:r>
            <a:endParaRPr lang="en-US" sz="700" dirty="0"/>
          </a:p>
        </p:txBody>
      </p:sp>
      <p:sp>
        <p:nvSpPr>
          <p:cNvPr id="290" name="Shape 288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20%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5%</a:t>
            </a:r>
            <a:endParaRPr lang="en-US" sz="700" dirty="0"/>
          </a:p>
        </p:txBody>
      </p:sp>
      <p:sp>
        <p:nvSpPr>
          <p:cNvPr id="294" name="Shape 292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40%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11 — Integrations &amp; Tech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Feature-by-feature vs. all 10 CRMs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Vitrag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8412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2252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1225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Open REST API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225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0208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08576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66944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5312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42048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00416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58784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58784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17152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75520" y="1225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1225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" y="15300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1530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Zapier / n8n integration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1530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50208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08576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25312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583680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42048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900416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58784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58784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217152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17152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875520" y="1530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1530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1440" y="18348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18348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Google Workspace (Drive/Cal/Meet)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91840" y="18348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9184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950208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08576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66944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66944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25312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83680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2048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2048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0416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558784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58784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17152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17152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875520" y="18348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75520" y="1834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1440" y="21396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37160" y="21396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Payment gateway (Razorpay/UPI/Stripe)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91840" y="21396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9184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950208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50208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608576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08576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266944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66944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925312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583680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42048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900416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0416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558784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58784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217152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217152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875520" y="21396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75520" y="2139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1440" y="24444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7160" y="24444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DocuSign / e-signature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91840" y="24444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184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950208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50208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608576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08576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5266944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266944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5925312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25312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583680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8368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242048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42048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900416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00416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8558784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58784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217152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17152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875520" y="24444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2444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440" y="27492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7160" y="2749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Accounting / ERP integration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91840" y="2749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9184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3950208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950208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4608576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608576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66944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66944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925312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25312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583680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58368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2048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42048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7900416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00416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8558784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558784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217152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217152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75520" y="27492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75520" y="2749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91440" y="30540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37160" y="3054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Facebook / Instagram Ads native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291840" y="3054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29184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3950208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950208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4608576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608576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5266944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266944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925312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25312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6583680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58368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7242048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42048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3" name="Shape 191"/>
          <p:cNvSpPr/>
          <p:nvPr/>
        </p:nvSpPr>
        <p:spPr>
          <a:xfrm>
            <a:off x="7900416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900416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8558784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558784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9217152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217152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9875520" y="30540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875520" y="3054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91440" y="33588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37160" y="33588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Zoom / Teams integration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291840" y="33588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9184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3950208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950208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4608576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608576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5266944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266944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925312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925312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3" name="Shape 211"/>
          <p:cNvSpPr/>
          <p:nvPr/>
        </p:nvSpPr>
        <p:spPr>
          <a:xfrm>
            <a:off x="6583680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58368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5" name="Shape 213"/>
          <p:cNvSpPr/>
          <p:nvPr/>
        </p:nvSpPr>
        <p:spPr>
          <a:xfrm>
            <a:off x="7242048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242048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7" name="Shape 215"/>
          <p:cNvSpPr/>
          <p:nvPr/>
        </p:nvSpPr>
        <p:spPr>
          <a:xfrm>
            <a:off x="7900416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900416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19" name="Shape 217"/>
          <p:cNvSpPr/>
          <p:nvPr/>
        </p:nvSpPr>
        <p:spPr>
          <a:xfrm>
            <a:off x="8558784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58784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21" name="Shape 219"/>
          <p:cNvSpPr/>
          <p:nvPr/>
        </p:nvSpPr>
        <p:spPr>
          <a:xfrm>
            <a:off x="9217152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17152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875520" y="33588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875520" y="33588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1440" y="36636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37160" y="36636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500+ app marketplace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3291840" y="36636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329184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3950208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950208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4608576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608576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5266944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266944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925312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925312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6583680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658368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7242048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242048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900416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900416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43" name="Shape 241"/>
          <p:cNvSpPr/>
          <p:nvPr/>
        </p:nvSpPr>
        <p:spPr>
          <a:xfrm>
            <a:off x="8558784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217152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217152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875520" y="36636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75520" y="36636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1440" y="39684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7160" y="39684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ISO security certification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3291840" y="39684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29184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3950208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50208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4608576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08576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57" name="Shape 255"/>
          <p:cNvSpPr/>
          <p:nvPr/>
        </p:nvSpPr>
        <p:spPr>
          <a:xfrm>
            <a:off x="5266944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266944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5925312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925312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6583680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58368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7242048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242048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7900416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900416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7" name="Shape 265"/>
          <p:cNvSpPr/>
          <p:nvPr/>
        </p:nvSpPr>
        <p:spPr>
          <a:xfrm>
            <a:off x="8558784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9217152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17152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75520" y="39684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75520" y="39684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1440" y="4273296"/>
            <a:ext cx="32004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37160" y="42732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Mobile app (iOS + Android)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3291840" y="42732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29184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3950208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950208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4608576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608576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5266944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266944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3" name="Shape 281"/>
          <p:cNvSpPr/>
          <p:nvPr/>
        </p:nvSpPr>
        <p:spPr>
          <a:xfrm>
            <a:off x="5925312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925312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5" name="Shape 283"/>
          <p:cNvSpPr/>
          <p:nvPr/>
        </p:nvSpPr>
        <p:spPr>
          <a:xfrm>
            <a:off x="6583680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7242048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42048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7900416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900416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1" name="Shape 289"/>
          <p:cNvSpPr/>
          <p:nvPr/>
        </p:nvSpPr>
        <p:spPr>
          <a:xfrm>
            <a:off x="8558784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558784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3" name="Shape 291"/>
          <p:cNvSpPr/>
          <p:nvPr/>
        </p:nvSpPr>
        <p:spPr>
          <a:xfrm>
            <a:off x="9217152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17152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5" name="Shape 293"/>
          <p:cNvSpPr/>
          <p:nvPr/>
        </p:nvSpPr>
        <p:spPr>
          <a:xfrm>
            <a:off x="9875520" y="4273296"/>
            <a:ext cx="658368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875520" y="42732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91440" y="4578096"/>
            <a:ext cx="3200400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37160" y="4578096"/>
            <a:ext cx="312724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Offline / PWA mode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3291840" y="4578096"/>
            <a:ext cx="658368" cy="304800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29184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✓</a:t>
            </a:r>
            <a:endParaRPr lang="en-US" sz="1200" dirty="0"/>
          </a:p>
        </p:txBody>
      </p:sp>
      <p:sp>
        <p:nvSpPr>
          <p:cNvPr id="301" name="Shape 299"/>
          <p:cNvSpPr/>
          <p:nvPr/>
        </p:nvSpPr>
        <p:spPr>
          <a:xfrm>
            <a:off x="3950208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950208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4608576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4608576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5266944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266944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5925312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5925312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950B"/>
                </a:solidFill>
              </a:rPr>
              <a:t>~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6583680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58368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7242048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242048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7900416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7900416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8558784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8558784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9217152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217152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9875520" y="4578096"/>
            <a:ext cx="658368" cy="30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75520" y="4578096"/>
            <a:ext cx="65836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2B21"/>
                </a:solidFill>
              </a:rPr>
              <a:t>✗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0" y="4892040"/>
            <a:ext cx="9144000" cy="10972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0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3E"/>
                </a:solidFill>
              </a:rPr>
              <a:t>Vitrag: 100%</a:t>
            </a:r>
            <a:endParaRPr lang="en-US" sz="700" dirty="0"/>
          </a:p>
        </p:txBody>
      </p:sp>
      <p:sp>
        <p:nvSpPr>
          <p:cNvPr id="324" name="Shape 322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831273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Sell.do: 75%</a:t>
            </a:r>
            <a:endParaRPr lang="en-US" sz="700" dirty="0"/>
          </a:p>
        </p:txBody>
      </p:sp>
      <p:sp>
        <p:nvSpPr>
          <p:cNvPr id="326" name="Shape 324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166254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Salesforce: 88%</a:t>
            </a:r>
            <a:endParaRPr lang="en-US" sz="700" dirty="0"/>
          </a:p>
        </p:txBody>
      </p:sp>
      <p:sp>
        <p:nvSpPr>
          <p:cNvPr id="328" name="Shape 326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2493818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Erino: 50%</a:t>
            </a:r>
            <a:endParaRPr lang="en-US" sz="700" dirty="0"/>
          </a:p>
        </p:txBody>
      </p:sp>
      <p:sp>
        <p:nvSpPr>
          <p:cNvPr id="330" name="Shape 328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3325091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Sysbi: 71%</a:t>
            </a:r>
            <a:endParaRPr lang="en-US" sz="700" dirty="0"/>
          </a:p>
        </p:txBody>
      </p:sp>
      <p:sp>
        <p:nvSpPr>
          <p:cNvPr id="332" name="Shape 330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4156364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HubSpot: 92%</a:t>
            </a:r>
            <a:endParaRPr lang="en-US" sz="700" dirty="0"/>
          </a:p>
        </p:txBody>
      </p:sp>
      <p:sp>
        <p:nvSpPr>
          <p:cNvPr id="334" name="Shape 332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4987636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Wise: 58%</a:t>
            </a:r>
            <a:endParaRPr lang="en-US" sz="700" dirty="0"/>
          </a:p>
        </p:txBody>
      </p:sp>
      <p:sp>
        <p:nvSpPr>
          <p:cNvPr id="336" name="Shape 334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5818909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Pipedrive: 83%</a:t>
            </a:r>
            <a:endParaRPr lang="en-US" sz="700" dirty="0"/>
          </a:p>
        </p:txBody>
      </p:sp>
      <p:sp>
        <p:nvSpPr>
          <p:cNvPr id="338" name="Shape 336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6650182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LionDesk: 67%</a:t>
            </a:r>
            <a:endParaRPr lang="en-US" sz="700" dirty="0"/>
          </a:p>
        </p:txBody>
      </p:sp>
      <p:sp>
        <p:nvSpPr>
          <p:cNvPr id="340" name="Shape 338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7481455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Real: 54%</a:t>
            </a:r>
            <a:endParaRPr lang="en-US" sz="700" dirty="0"/>
          </a:p>
        </p:txBody>
      </p:sp>
      <p:sp>
        <p:nvSpPr>
          <p:cNvPr id="342" name="Shape 340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8312727" y="4892040"/>
            <a:ext cx="8312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S-Link: 58%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Master Scorecard — All Modules vs All CRMs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Weighted by Full(2pts) / Partial(1pt) / No(0pts)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50392"/>
            <a:ext cx="19202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50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850392"/>
            <a:ext cx="73152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3E"/>
                </a:solidFill>
              </a:rPr>
              <a:t>Vitrag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0" y="850392"/>
            <a:ext cx="73152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Sell.do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0" y="850392"/>
            <a:ext cx="731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06240" y="850392"/>
            <a:ext cx="73152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Erino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937760" y="850392"/>
            <a:ext cx="731520" cy="34747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Sysbi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850392"/>
            <a:ext cx="731520" cy="34747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HubSpot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400800" y="850392"/>
            <a:ext cx="731520" cy="34747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32320" y="850392"/>
            <a:ext cx="73152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Pipedrive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863840" y="850392"/>
            <a:ext cx="731520" cy="347472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LionDesk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595360" y="850392"/>
            <a:ext cx="73152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326880" y="850392"/>
            <a:ext cx="731520" cy="347472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850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S-Link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440" y="119786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197864"/>
            <a:ext cx="4572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1197864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1. Lead Management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011680" y="1197864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0" y="119786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71%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74720" y="119786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61%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06240" y="119786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0" y="119786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64%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69280" y="119786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68%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0" y="119786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46%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32320" y="119786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46%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863840" y="119786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57%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595360" y="119786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9536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64%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326880" y="119786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0" y="11978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79%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1440" y="1527048"/>
            <a:ext cx="1920240" cy="32918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" y="1527048"/>
            <a:ext cx="45720" cy="3291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152704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2. Pipeline &amp; Deal Mgmt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011680" y="1527048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1168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43200" y="1527048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92%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474720" y="152704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06240" y="152704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63%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937760" y="152704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71%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0" y="152704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00800" y="152704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54%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132320" y="152704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3232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67%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863840" y="152704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6384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71%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595360" y="152704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9536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33%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326880" y="152704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26880" y="15270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91440" y="185623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440" y="1856232"/>
            <a:ext cx="4572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82880" y="185623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3. Contact &amp; Client Mgmt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2011680" y="1856232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1168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743200" y="185623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85%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474720" y="185623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7472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85%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206240" y="185623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0624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70%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937760" y="185623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3776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669280" y="185623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6928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85%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400800" y="185623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0080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70%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132320" y="185623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3232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863840" y="185623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86384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8595360" y="185623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59536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60%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9326880" y="185623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326880" y="18562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80%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1440" y="2185416"/>
            <a:ext cx="1920240" cy="32918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1440" y="2185416"/>
            <a:ext cx="45720" cy="32918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82880" y="218541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4. Property Inventory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011680" y="2185416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01168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2743200" y="2185416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4320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90%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47472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47472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20%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20624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20624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10%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93776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3776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30%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66928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66928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25%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40080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40080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0%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713232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13232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0%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786384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86384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15%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8595360" y="218541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59536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50%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9326880" y="2185416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326880" y="21854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70%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91440" y="251460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1440" y="2514600"/>
            <a:ext cx="45720" cy="329184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82880" y="251460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5. Communication &amp; Omnich...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2011680" y="2514600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01168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2743200" y="2514600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74320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83%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3474720" y="2514600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47472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4206240" y="2514600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20624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70%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4937760" y="2514600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93776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67%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5669280" y="2514600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66928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6400800" y="251460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40080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37%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7132320" y="251460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13232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37%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7863840" y="2514600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86384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70%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8595360" y="251460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59536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40%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9326880" y="2514600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326880" y="2514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93%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91440" y="2843784"/>
            <a:ext cx="1920240" cy="32918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1440" y="2843784"/>
            <a:ext cx="45720" cy="32918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82880" y="2843784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6. Automation &amp; Workflow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2011680" y="2843784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01168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2743200" y="2843784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74320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3474720" y="284378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47472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68%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4206240" y="284378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20624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68%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4937760" y="284378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93776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68%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5669280" y="284378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66928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6400800" y="284378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640080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7132320" y="284378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13232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50%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7863840" y="284378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86384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8595360" y="284378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59536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50%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9326880" y="284378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9326880" y="2843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82%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91440" y="3172968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440" y="3172968"/>
            <a:ext cx="45720" cy="329184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82880" y="31729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7. AI &amp; Intelligence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2011680" y="3172968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01168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2743200" y="317296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74320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77%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3474720" y="317296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47472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65%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4206240" y="3172968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20624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4937760" y="317296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93776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4%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5669280" y="317296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66928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50%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6400800" y="317296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40080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4%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7132320" y="317296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13232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19%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7863840" y="317296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786384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4%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8595360" y="3172968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59536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31%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9326880" y="3172968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326880" y="3172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88%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91440" y="3502152"/>
            <a:ext cx="1920240" cy="32918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1440" y="3502152"/>
            <a:ext cx="4572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82880" y="350215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8. Analytics &amp; Reporting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2011680" y="3502152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01168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2743200" y="350215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74320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96%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3474720" y="350215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47472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4206240" y="3502152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20624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79%</a:t>
            </a:r>
            <a:endParaRPr lang="en-US" sz="800" dirty="0"/>
          </a:p>
        </p:txBody>
      </p:sp>
      <p:sp>
        <p:nvSpPr>
          <p:cNvPr id="219" name="Shape 217"/>
          <p:cNvSpPr/>
          <p:nvPr/>
        </p:nvSpPr>
        <p:spPr>
          <a:xfrm>
            <a:off x="4937760" y="350215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493776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88%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5669280" y="350215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566928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6400800" y="3502152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40080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54%</a:t>
            </a:r>
            <a:endParaRPr lang="en-US" sz="800" dirty="0"/>
          </a:p>
        </p:txBody>
      </p:sp>
      <p:sp>
        <p:nvSpPr>
          <p:cNvPr id="225" name="Shape 223"/>
          <p:cNvSpPr/>
          <p:nvPr/>
        </p:nvSpPr>
        <p:spPr>
          <a:xfrm>
            <a:off x="7132320" y="350215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713232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88%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7863840" y="3502152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786384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58%</a:t>
            </a:r>
            <a:endParaRPr lang="en-US" sz="800" dirty="0"/>
          </a:p>
        </p:txBody>
      </p:sp>
      <p:sp>
        <p:nvSpPr>
          <p:cNvPr id="229" name="Shape 227"/>
          <p:cNvSpPr/>
          <p:nvPr/>
        </p:nvSpPr>
        <p:spPr>
          <a:xfrm>
            <a:off x="8595360" y="3502152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859536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58%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9326880" y="3502152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9326880" y="3502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88%</a:t>
            </a:r>
            <a:endParaRPr lang="en-US" sz="800" dirty="0"/>
          </a:p>
        </p:txBody>
      </p:sp>
      <p:sp>
        <p:nvSpPr>
          <p:cNvPr id="233" name="Shape 231"/>
          <p:cNvSpPr/>
          <p:nvPr/>
        </p:nvSpPr>
        <p:spPr>
          <a:xfrm>
            <a:off x="91440" y="3831336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1440" y="3831336"/>
            <a:ext cx="45720" cy="32918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182880" y="383133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9. Team, Roles &amp; Process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2011680" y="3831336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201168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238" name="Shape 236"/>
          <p:cNvSpPr/>
          <p:nvPr/>
        </p:nvSpPr>
        <p:spPr>
          <a:xfrm>
            <a:off x="2743200" y="3831336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74320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91%</a:t>
            </a:r>
            <a:endParaRPr lang="en-US" sz="800" dirty="0"/>
          </a:p>
        </p:txBody>
      </p:sp>
      <p:sp>
        <p:nvSpPr>
          <p:cNvPr id="240" name="Shape 238"/>
          <p:cNvSpPr/>
          <p:nvPr/>
        </p:nvSpPr>
        <p:spPr>
          <a:xfrm>
            <a:off x="3474720" y="3831336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347472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4206240" y="3831336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20624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68%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4937760" y="3831336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493776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82%</a:t>
            </a:r>
            <a:endParaRPr lang="en-US" sz="800" dirty="0"/>
          </a:p>
        </p:txBody>
      </p:sp>
      <p:sp>
        <p:nvSpPr>
          <p:cNvPr id="246" name="Shape 244"/>
          <p:cNvSpPr/>
          <p:nvPr/>
        </p:nvSpPr>
        <p:spPr>
          <a:xfrm>
            <a:off x="5669280" y="3831336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66928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73%</a:t>
            </a:r>
            <a:endParaRPr lang="en-US" sz="800" dirty="0"/>
          </a:p>
        </p:txBody>
      </p:sp>
      <p:sp>
        <p:nvSpPr>
          <p:cNvPr id="248" name="Shape 246"/>
          <p:cNvSpPr/>
          <p:nvPr/>
        </p:nvSpPr>
        <p:spPr>
          <a:xfrm>
            <a:off x="6400800" y="383133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40080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55%</a:t>
            </a:r>
            <a:endParaRPr lang="en-US" sz="800" dirty="0"/>
          </a:p>
        </p:txBody>
      </p:sp>
      <p:sp>
        <p:nvSpPr>
          <p:cNvPr id="250" name="Shape 248"/>
          <p:cNvSpPr/>
          <p:nvPr/>
        </p:nvSpPr>
        <p:spPr>
          <a:xfrm>
            <a:off x="7132320" y="3831336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713232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64%</a:t>
            </a:r>
            <a:endParaRPr lang="en-US" sz="800" dirty="0"/>
          </a:p>
        </p:txBody>
      </p:sp>
      <p:sp>
        <p:nvSpPr>
          <p:cNvPr id="252" name="Shape 250"/>
          <p:cNvSpPr/>
          <p:nvPr/>
        </p:nvSpPr>
        <p:spPr>
          <a:xfrm>
            <a:off x="7863840" y="383133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786384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50%</a:t>
            </a:r>
            <a:endParaRPr lang="en-US" sz="800" dirty="0"/>
          </a:p>
        </p:txBody>
      </p:sp>
      <p:sp>
        <p:nvSpPr>
          <p:cNvPr id="254" name="Shape 252"/>
          <p:cNvSpPr/>
          <p:nvPr/>
        </p:nvSpPr>
        <p:spPr>
          <a:xfrm>
            <a:off x="8595360" y="3831336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859536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50%</a:t>
            </a:r>
            <a:endParaRPr lang="en-US" sz="800" dirty="0"/>
          </a:p>
        </p:txBody>
      </p:sp>
      <p:sp>
        <p:nvSpPr>
          <p:cNvPr id="256" name="Shape 254"/>
          <p:cNvSpPr/>
          <p:nvPr/>
        </p:nvSpPr>
        <p:spPr>
          <a:xfrm>
            <a:off x="9326880" y="3831336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9326880" y="38313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86%</a:t>
            </a:r>
            <a:endParaRPr lang="en-US" sz="800" dirty="0"/>
          </a:p>
        </p:txBody>
      </p:sp>
      <p:sp>
        <p:nvSpPr>
          <p:cNvPr id="258" name="Shape 256"/>
          <p:cNvSpPr/>
          <p:nvPr/>
        </p:nvSpPr>
        <p:spPr>
          <a:xfrm>
            <a:off x="91440" y="4160520"/>
            <a:ext cx="1920240" cy="32918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1440" y="4160520"/>
            <a:ext cx="45720" cy="32918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182880" y="416052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10. Post-Sales &amp; Retention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2011680" y="4160520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201168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263" name="Shape 261"/>
          <p:cNvSpPr/>
          <p:nvPr/>
        </p:nvSpPr>
        <p:spPr>
          <a:xfrm>
            <a:off x="2743200" y="4160520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274320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80%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347472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47472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45%</a:t>
            </a:r>
            <a:endParaRPr lang="en-US" sz="800" dirty="0"/>
          </a:p>
        </p:txBody>
      </p:sp>
      <p:sp>
        <p:nvSpPr>
          <p:cNvPr id="267" name="Shape 265"/>
          <p:cNvSpPr/>
          <p:nvPr/>
        </p:nvSpPr>
        <p:spPr>
          <a:xfrm>
            <a:off x="420624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420624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5%</a:t>
            </a:r>
            <a:endParaRPr lang="en-US" sz="800" dirty="0"/>
          </a:p>
        </p:txBody>
      </p:sp>
      <p:sp>
        <p:nvSpPr>
          <p:cNvPr id="269" name="Shape 267"/>
          <p:cNvSpPr/>
          <p:nvPr/>
        </p:nvSpPr>
        <p:spPr>
          <a:xfrm>
            <a:off x="493776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93776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40%</a:t>
            </a:r>
            <a:endParaRPr lang="en-US" sz="800" dirty="0"/>
          </a:p>
        </p:txBody>
      </p:sp>
      <p:sp>
        <p:nvSpPr>
          <p:cNvPr id="271" name="Shape 269"/>
          <p:cNvSpPr/>
          <p:nvPr/>
        </p:nvSpPr>
        <p:spPr>
          <a:xfrm>
            <a:off x="566928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566928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45%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640080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40080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25%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713232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713232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5%</a:t>
            </a:r>
            <a:endParaRPr lang="en-US" sz="800" dirty="0"/>
          </a:p>
        </p:txBody>
      </p:sp>
      <p:sp>
        <p:nvSpPr>
          <p:cNvPr id="277" name="Shape 275"/>
          <p:cNvSpPr/>
          <p:nvPr/>
        </p:nvSpPr>
        <p:spPr>
          <a:xfrm>
            <a:off x="786384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786384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20%</a:t>
            </a:r>
            <a:endParaRPr lang="en-US" sz="800" dirty="0"/>
          </a:p>
        </p:txBody>
      </p:sp>
      <p:sp>
        <p:nvSpPr>
          <p:cNvPr id="279" name="Shape 277"/>
          <p:cNvSpPr/>
          <p:nvPr/>
        </p:nvSpPr>
        <p:spPr>
          <a:xfrm>
            <a:off x="859536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859536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5%</a:t>
            </a:r>
            <a:endParaRPr lang="en-US" sz="800" dirty="0"/>
          </a:p>
        </p:txBody>
      </p:sp>
      <p:sp>
        <p:nvSpPr>
          <p:cNvPr id="281" name="Shape 279"/>
          <p:cNvSpPr/>
          <p:nvPr/>
        </p:nvSpPr>
        <p:spPr>
          <a:xfrm>
            <a:off x="9326880" y="4160520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9326880" y="41605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40%</a:t>
            </a:r>
            <a:endParaRPr lang="en-US" sz="800" dirty="0"/>
          </a:p>
        </p:txBody>
      </p:sp>
      <p:sp>
        <p:nvSpPr>
          <p:cNvPr id="283" name="Shape 281"/>
          <p:cNvSpPr/>
          <p:nvPr/>
        </p:nvSpPr>
        <p:spPr>
          <a:xfrm>
            <a:off x="91440" y="448970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91440" y="4489704"/>
            <a:ext cx="45720" cy="329184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182880" y="4489704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11. Integrations &amp; Tech</a:t>
            </a:r>
            <a:endParaRPr lang="en-US" sz="750" dirty="0"/>
          </a:p>
        </p:txBody>
      </p:sp>
      <p:sp>
        <p:nvSpPr>
          <p:cNvPr id="286" name="Shape 284"/>
          <p:cNvSpPr/>
          <p:nvPr/>
        </p:nvSpPr>
        <p:spPr>
          <a:xfrm>
            <a:off x="2011680" y="4489704"/>
            <a:ext cx="731520" cy="329184"/>
          </a:xfrm>
          <a:prstGeom prst="rect">
            <a:avLst/>
          </a:prstGeom>
          <a:solidFill>
            <a:srgbClr val="D4EFD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201168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100%</a:t>
            </a:r>
            <a:endParaRPr lang="en-US" sz="800" dirty="0"/>
          </a:p>
        </p:txBody>
      </p:sp>
      <p:sp>
        <p:nvSpPr>
          <p:cNvPr id="288" name="Shape 286"/>
          <p:cNvSpPr/>
          <p:nvPr/>
        </p:nvSpPr>
        <p:spPr>
          <a:xfrm>
            <a:off x="2743200" y="448970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274320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75%</a:t>
            </a:r>
            <a:endParaRPr lang="en-US" sz="800" dirty="0"/>
          </a:p>
        </p:txBody>
      </p:sp>
      <p:sp>
        <p:nvSpPr>
          <p:cNvPr id="290" name="Shape 288"/>
          <p:cNvSpPr/>
          <p:nvPr/>
        </p:nvSpPr>
        <p:spPr>
          <a:xfrm>
            <a:off x="3474720" y="4489704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347472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88%</a:t>
            </a:r>
            <a:endParaRPr lang="en-US" sz="800" dirty="0"/>
          </a:p>
        </p:txBody>
      </p:sp>
      <p:sp>
        <p:nvSpPr>
          <p:cNvPr id="292" name="Shape 290"/>
          <p:cNvSpPr/>
          <p:nvPr/>
        </p:nvSpPr>
        <p:spPr>
          <a:xfrm>
            <a:off x="4206240" y="448970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420624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50%</a:t>
            </a:r>
            <a:endParaRPr lang="en-US" sz="800" dirty="0"/>
          </a:p>
        </p:txBody>
      </p:sp>
      <p:sp>
        <p:nvSpPr>
          <p:cNvPr id="294" name="Shape 292"/>
          <p:cNvSpPr/>
          <p:nvPr/>
        </p:nvSpPr>
        <p:spPr>
          <a:xfrm>
            <a:off x="4937760" y="448970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493776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71%</a:t>
            </a:r>
            <a:endParaRPr lang="en-US" sz="800" dirty="0"/>
          </a:p>
        </p:txBody>
      </p:sp>
      <p:sp>
        <p:nvSpPr>
          <p:cNvPr id="296" name="Shape 294"/>
          <p:cNvSpPr/>
          <p:nvPr/>
        </p:nvSpPr>
        <p:spPr>
          <a:xfrm>
            <a:off x="5669280" y="4489704"/>
            <a:ext cx="731520" cy="329184"/>
          </a:xfrm>
          <a:prstGeom prst="rect">
            <a:avLst/>
          </a:prstGeom>
          <a:solidFill>
            <a:srgbClr val="D5F5E3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566928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92%</a:t>
            </a:r>
            <a:endParaRPr lang="en-US" sz="800" dirty="0"/>
          </a:p>
        </p:txBody>
      </p:sp>
      <p:sp>
        <p:nvSpPr>
          <p:cNvPr id="298" name="Shape 296"/>
          <p:cNvSpPr/>
          <p:nvPr/>
        </p:nvSpPr>
        <p:spPr>
          <a:xfrm>
            <a:off x="6400800" y="448970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640080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58%</a:t>
            </a:r>
            <a:endParaRPr lang="en-US" sz="800" dirty="0"/>
          </a:p>
        </p:txBody>
      </p:sp>
      <p:sp>
        <p:nvSpPr>
          <p:cNvPr id="300" name="Shape 298"/>
          <p:cNvSpPr/>
          <p:nvPr/>
        </p:nvSpPr>
        <p:spPr>
          <a:xfrm>
            <a:off x="7132320" y="448970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713232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83%</a:t>
            </a:r>
            <a:endParaRPr lang="en-US" sz="800" dirty="0"/>
          </a:p>
        </p:txBody>
      </p:sp>
      <p:sp>
        <p:nvSpPr>
          <p:cNvPr id="302" name="Shape 300"/>
          <p:cNvSpPr/>
          <p:nvPr/>
        </p:nvSpPr>
        <p:spPr>
          <a:xfrm>
            <a:off x="7863840" y="4489704"/>
            <a:ext cx="731520" cy="329184"/>
          </a:xfrm>
          <a:prstGeom prst="rect">
            <a:avLst/>
          </a:prstGeom>
          <a:solidFill>
            <a:srgbClr val="FEF9E7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786384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950B"/>
                </a:solidFill>
              </a:rPr>
              <a:t>67%</a:t>
            </a:r>
            <a:endParaRPr lang="en-US" sz="800" dirty="0"/>
          </a:p>
        </p:txBody>
      </p:sp>
      <p:sp>
        <p:nvSpPr>
          <p:cNvPr id="304" name="Shape 302"/>
          <p:cNvSpPr/>
          <p:nvPr/>
        </p:nvSpPr>
        <p:spPr>
          <a:xfrm>
            <a:off x="8595360" y="448970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859536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54%</a:t>
            </a:r>
            <a:endParaRPr lang="en-US" sz="800" dirty="0"/>
          </a:p>
        </p:txBody>
      </p:sp>
      <p:sp>
        <p:nvSpPr>
          <p:cNvPr id="306" name="Shape 304"/>
          <p:cNvSpPr/>
          <p:nvPr/>
        </p:nvSpPr>
        <p:spPr>
          <a:xfrm>
            <a:off x="9326880" y="4489704"/>
            <a:ext cx="731520" cy="329184"/>
          </a:xfrm>
          <a:prstGeom prst="rect">
            <a:avLst/>
          </a:prstGeom>
          <a:solidFill>
            <a:srgbClr val="FDEDE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9326880" y="44897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58%</a:t>
            </a:r>
            <a:endParaRPr lang="en-US" sz="800" dirty="0"/>
          </a:p>
        </p:txBody>
      </p:sp>
      <p:sp>
        <p:nvSpPr>
          <p:cNvPr id="308" name="Shape 306"/>
          <p:cNvSpPr/>
          <p:nvPr/>
        </p:nvSpPr>
        <p:spPr>
          <a:xfrm>
            <a:off x="91440" y="4864608"/>
            <a:ext cx="19202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91440" y="4864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SCORE</a:t>
            </a:r>
            <a:endParaRPr lang="en-US" sz="900" dirty="0"/>
          </a:p>
        </p:txBody>
      </p:sp>
      <p:sp>
        <p:nvSpPr>
          <p:cNvPr id="310" name="Shape 308"/>
          <p:cNvSpPr/>
          <p:nvPr/>
        </p:nvSpPr>
        <p:spPr>
          <a:xfrm>
            <a:off x="2011680" y="4864608"/>
            <a:ext cx="73152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201168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100%</a:t>
            </a:r>
            <a:endParaRPr lang="en-US" sz="1000" dirty="0"/>
          </a:p>
        </p:txBody>
      </p:sp>
      <p:sp>
        <p:nvSpPr>
          <p:cNvPr id="312" name="Shape 310"/>
          <p:cNvSpPr/>
          <p:nvPr/>
        </p:nvSpPr>
        <p:spPr>
          <a:xfrm>
            <a:off x="2743200" y="4864608"/>
            <a:ext cx="73152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274320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85%</a:t>
            </a:r>
            <a:endParaRPr lang="en-US" sz="1000" dirty="0"/>
          </a:p>
        </p:txBody>
      </p:sp>
      <p:sp>
        <p:nvSpPr>
          <p:cNvPr id="314" name="Shape 312"/>
          <p:cNvSpPr/>
          <p:nvPr/>
        </p:nvSpPr>
        <p:spPr>
          <a:xfrm>
            <a:off x="3474720" y="4864608"/>
            <a:ext cx="73152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347472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69%</a:t>
            </a:r>
            <a:endParaRPr lang="en-US" sz="1000" dirty="0"/>
          </a:p>
        </p:txBody>
      </p:sp>
      <p:sp>
        <p:nvSpPr>
          <p:cNvPr id="316" name="Shape 314"/>
          <p:cNvSpPr/>
          <p:nvPr/>
        </p:nvSpPr>
        <p:spPr>
          <a:xfrm>
            <a:off x="4206240" y="4864608"/>
            <a:ext cx="7315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420624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59%</a:t>
            </a:r>
            <a:endParaRPr lang="en-US" sz="1000" dirty="0"/>
          </a:p>
        </p:txBody>
      </p:sp>
      <p:sp>
        <p:nvSpPr>
          <p:cNvPr id="318" name="Shape 316"/>
          <p:cNvSpPr/>
          <p:nvPr/>
        </p:nvSpPr>
        <p:spPr>
          <a:xfrm>
            <a:off x="4937760" y="4864608"/>
            <a:ext cx="7315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493776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60%</a:t>
            </a:r>
            <a:endParaRPr lang="en-US" sz="1000" dirty="0"/>
          </a:p>
        </p:txBody>
      </p:sp>
      <p:sp>
        <p:nvSpPr>
          <p:cNvPr id="320" name="Shape 318"/>
          <p:cNvSpPr/>
          <p:nvPr/>
        </p:nvSpPr>
        <p:spPr>
          <a:xfrm>
            <a:off x="5669280" y="4864608"/>
            <a:ext cx="73152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566928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70%</a:t>
            </a:r>
            <a:endParaRPr lang="en-US" sz="1000" dirty="0"/>
          </a:p>
        </p:txBody>
      </p:sp>
      <p:sp>
        <p:nvSpPr>
          <p:cNvPr id="322" name="Shape 320"/>
          <p:cNvSpPr/>
          <p:nvPr/>
        </p:nvSpPr>
        <p:spPr>
          <a:xfrm>
            <a:off x="6400800" y="4864608"/>
            <a:ext cx="731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640080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43%</a:t>
            </a:r>
            <a:endParaRPr lang="en-US" sz="1000" dirty="0"/>
          </a:p>
        </p:txBody>
      </p:sp>
      <p:sp>
        <p:nvSpPr>
          <p:cNvPr id="324" name="Shape 322"/>
          <p:cNvSpPr/>
          <p:nvPr/>
        </p:nvSpPr>
        <p:spPr>
          <a:xfrm>
            <a:off x="7132320" y="4864608"/>
            <a:ext cx="731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713232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49%</a:t>
            </a:r>
            <a:endParaRPr lang="en-US" sz="1000" dirty="0"/>
          </a:p>
        </p:txBody>
      </p:sp>
      <p:sp>
        <p:nvSpPr>
          <p:cNvPr id="326" name="Shape 324"/>
          <p:cNvSpPr/>
          <p:nvPr/>
        </p:nvSpPr>
        <p:spPr>
          <a:xfrm>
            <a:off x="7863840" y="4864608"/>
            <a:ext cx="7315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786384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52%</a:t>
            </a:r>
            <a:endParaRPr lang="en-US" sz="1000" dirty="0"/>
          </a:p>
        </p:txBody>
      </p:sp>
      <p:sp>
        <p:nvSpPr>
          <p:cNvPr id="328" name="Shape 326"/>
          <p:cNvSpPr/>
          <p:nvPr/>
        </p:nvSpPr>
        <p:spPr>
          <a:xfrm>
            <a:off x="8595360" y="4864608"/>
            <a:ext cx="731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859536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45%</a:t>
            </a:r>
            <a:endParaRPr lang="en-US" sz="1000" dirty="0"/>
          </a:p>
        </p:txBody>
      </p:sp>
      <p:sp>
        <p:nvSpPr>
          <p:cNvPr id="330" name="Shape 328"/>
          <p:cNvSpPr/>
          <p:nvPr/>
        </p:nvSpPr>
        <p:spPr>
          <a:xfrm>
            <a:off x="9326880" y="4864608"/>
            <a:ext cx="73152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9326880" y="4864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77%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Vitrag's 15 Non-Negotiable Differentiators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Features no single competitor fully covers — these are our competitive moats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89611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896112"/>
            <a:ext cx="34747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8961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" y="914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WhatsApp-native + India portal in one platform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59352" y="969264"/>
            <a:ext cx="5120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96926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Comms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37160" y="139903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1399032"/>
            <a:ext cx="34747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" y="139903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RERA compliance + KYC + possession handover tracker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59352" y="1472184"/>
            <a:ext cx="5120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147218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Post-Sales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37160" y="190195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" y="1901952"/>
            <a:ext cx="34747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" y="190195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Online unit booking with UPI/Razorpay gateway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59352" y="1975104"/>
            <a:ext cx="5120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9352" y="197510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Deal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37160" y="240487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" y="2404872"/>
            <a:ext cx="34747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240487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" y="2423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Channel partner mgmt + inventory control + incentive calc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59352" y="2478024"/>
            <a:ext cx="5120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59352" y="247802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Team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37160" y="290779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7160" y="2907792"/>
            <a:ext cx="34747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290779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" y="2926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Erino-style execution: stuck deal alerts + zero-leak ownership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59352" y="2980944"/>
            <a:ext cx="512064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9352" y="298094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Automation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37160" y="341071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37160" y="3410712"/>
            <a:ext cx="34747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" y="34107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" y="3429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AI call transcription in 8+ Indian regional languages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59352" y="3483864"/>
            <a:ext cx="512064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9352" y="348386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AI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137160" y="391363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37160" y="3913632"/>
            <a:ext cx="34747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391363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9496" y="3931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Full post-sales: demand letters, payment schedules, handover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59352" y="3986784"/>
            <a:ext cx="512064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9352" y="398678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Post-Sales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37160" y="441655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37160" y="4416552"/>
            <a:ext cx="34747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41655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39496" y="4434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DND / TRAI telecom compliance built 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59352" y="4489704"/>
            <a:ext cx="512064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59352" y="448970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Comms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709160" y="89611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09160" y="896112"/>
            <a:ext cx="347472" cy="4389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8961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111496" y="914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Multi-language CRM UI (Hindi + regional)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531352" y="969264"/>
            <a:ext cx="512064" cy="274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31352" y="96926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UX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4709160" y="139903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09160" y="1399032"/>
            <a:ext cx="347472" cy="4389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139903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111496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Builder / developer project module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531352" y="1472184"/>
            <a:ext cx="512064" cy="274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31352" y="147218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Inventory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4709160" y="190195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09160" y="1901952"/>
            <a:ext cx="347472" cy="4389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09160" y="190195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5111496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AI smart property-to-buyer auto-matching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531352" y="1975104"/>
            <a:ext cx="512064" cy="274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31352" y="197510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AI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4709160" y="240487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709160" y="2404872"/>
            <a:ext cx="347472" cy="4389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09160" y="240487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5111496" y="2423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Commission split management (Indian brokerage model)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531352" y="2478024"/>
            <a:ext cx="512064" cy="274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31352" y="247802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Deal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4709160" y="290779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709160" y="2907792"/>
            <a:ext cx="347472" cy="4389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9160" y="290779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5111496" y="2926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Market pricing trend intelligence (aggregated data)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8531352" y="2980944"/>
            <a:ext cx="512064" cy="274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31352" y="298094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AI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4709160" y="341071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4709160" y="3410712"/>
            <a:ext cx="347472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4107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5111496" y="3429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Offline / PWA mode (Tier-2 low-connectivity)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531352" y="3483864"/>
            <a:ext cx="512064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31352" y="348386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Platform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4709160" y="391363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709160" y="3913632"/>
            <a:ext cx="347472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09160" y="391363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5111496" y="3931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One-click digital brochure / property microsite generator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531352" y="3986784"/>
            <a:ext cx="512064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531352" y="398678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Inventory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Primary Benchmark: Vitrag CRM vs Sell.do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Sell.do is the closest competitor — this is where we must 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850392"/>
            <a:ext cx="411480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8503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SELL.DO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0"/>
                </a:solidFill>
              </a:rPr>
              <a:t>India's #1 Real Estate CRM — Enterprise focus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572768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2336" y="15544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India portals (99acres, MagicBricks) — deep native integration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3852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" y="19202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Post-sales: demand letters, payment schedules, possession tracker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304288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2336" y="22860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Channel partner management with incentive calculator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670048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2336" y="26517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Online unit booking with payment gateway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035808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2336" y="30175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Cloud telephony + IVR + intelligent routing (built-in)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401568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02336" y="33832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AI call transcription in 8+ Indian languages</a:t>
            </a:r>
            <a:endParaRPr lang="en-US" sz="9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3767328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02336" y="37490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ISO-certified security; 1,000+ developer clients</a:t>
            </a:r>
            <a:endParaRPr lang="en-US" sz="9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4133088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02336" y="41148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Rapid 30-day deployment; G2 #1 ease of use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4389120" y="850392"/>
            <a:ext cx="54864" cy="41148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41605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8BA0"/>
                </a:solidFill>
              </a:rPr>
              <a:t>VS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4526280" y="850392"/>
            <a:ext cx="448056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526280" y="8503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VITRAG CRM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4526280" y="12344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0"/>
                </a:solidFill>
              </a:rPr>
              <a:t>Built for brokers, solo agents AND developers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4572000" y="1572768"/>
            <a:ext cx="4389120" cy="402336"/>
          </a:xfrm>
          <a:prstGeom prst="rect">
            <a:avLst/>
          </a:prstGeom>
          <a:solidFill>
            <a:srgbClr val="E6F4F4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4645152" y="157276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173"/>
                </a:solidFill>
              </a:rPr>
              <a:t>✦ Price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5577840" y="15727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Sell.do is enterprise-priced (custom quotes). Vitrag starts ₹999/mo.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4572000" y="2048256"/>
            <a:ext cx="4389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4645152" y="204825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173"/>
                </a:solidFill>
              </a:rPr>
              <a:t>✦ UX Target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5577840" y="20482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Sell.do targets developers. Vitrag is built for solo agents &amp; small brokerages too.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4572000" y="2523744"/>
            <a:ext cx="4389120" cy="402336"/>
          </a:xfrm>
          <a:prstGeom prst="rect">
            <a:avLst/>
          </a:prstGeom>
          <a:solidFill>
            <a:srgbClr val="E6F4F4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645152" y="252374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173"/>
                </a:solidFill>
              </a:rPr>
              <a:t>✦ Erino Model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5577840" y="25237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Execution enforcement (stuck deals, zero-leak) — Sell.do lacks this.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4572000" y="2999232"/>
            <a:ext cx="4389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4645152" y="29992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173"/>
                </a:solidFill>
              </a:rPr>
              <a:t>✦ Offline Mode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5577840" y="29992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Field agents in Tier-2 cities. Sell.do is cloud-only.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4572000" y="3474720"/>
            <a:ext cx="4389120" cy="402336"/>
          </a:xfrm>
          <a:prstGeom prst="rect">
            <a:avLst/>
          </a:prstGeom>
          <a:solidFill>
            <a:srgbClr val="E6F4F4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4645152" y="347472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173"/>
                </a:solidFill>
              </a:rPr>
              <a:t>✦ AI Depth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5577840" y="34747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Objection recognition, rep quality scoring, churn prediction — beyond Sell.do.</a:t>
            </a:r>
            <a:endParaRPr lang="en-US" sz="850" dirty="0"/>
          </a:p>
        </p:txBody>
      </p:sp>
      <p:sp>
        <p:nvSpPr>
          <p:cNvPr id="48" name="Shape 38"/>
          <p:cNvSpPr/>
          <p:nvPr/>
        </p:nvSpPr>
        <p:spPr>
          <a:xfrm>
            <a:off x="4572000" y="3950208"/>
            <a:ext cx="4389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4645152" y="39502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173"/>
                </a:solidFill>
              </a:rPr>
              <a:t>✦ Agility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5577840" y="39502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14-day free trial, no implementation fee, no consultant needed to go live.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Overall CRM Rankings — Total Feature Score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All 11 modules · 123 features · weighted scoring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103120" y="896112"/>
            <a:ext cx="6583680" cy="3017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96112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Vitrag CRM (Target)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32520" y="89611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173"/>
                </a:solidFill>
              </a:rPr>
              <a:t>260/260 pts  (100%)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" y="932688"/>
            <a:ext cx="228600" cy="2286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" y="9326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271016"/>
            <a:ext cx="5596128" cy="30175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271016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Sell.do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44968" y="127101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221/260 pts  (85%)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" y="1307592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" y="13075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03120" y="1645920"/>
            <a:ext cx="5069434" cy="301752"/>
          </a:xfrm>
          <a:prstGeom prst="rect">
            <a:avLst/>
          </a:prstGeom>
          <a:solidFill>
            <a:srgbClr val="125A4E"/>
          </a:solidFill>
          <a:ln w="12700">
            <a:solidFill>
              <a:srgbClr val="125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645920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S-Link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18274" y="164592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201/260 pts  (77%)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" y="1682496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" y="16824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03120" y="2020824"/>
            <a:ext cx="4608576" cy="30175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2020824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HubSpot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57416" y="202082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181/260 pts  (70%)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9728" y="2057400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" y="2057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103120" y="2395728"/>
            <a:ext cx="4542739" cy="301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395728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Salesforce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91579" y="239572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180/260 pts  (69%)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28" y="2432304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" y="243230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03120" y="2770632"/>
            <a:ext cx="3950208" cy="30175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2770632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Sysbi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99048" y="277063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156/260 pts  (60%)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" y="2807208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" y="28072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103120" y="3145536"/>
            <a:ext cx="3884371" cy="30175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3145536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Erino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33211" y="314553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154/260 pts  (59%)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9728" y="3182112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" y="31821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03120" y="3520440"/>
            <a:ext cx="3423514" cy="301752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3520440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LionDesk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72354" y="35204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134/260 pts  (52%)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9728" y="3557016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" y="35570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103120" y="3895344"/>
            <a:ext cx="3226003" cy="3017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3895344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Pipedrive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374843" y="389534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127/260 pts  (49%)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728" y="3931920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" y="39319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03120" y="4270248"/>
            <a:ext cx="2962656" cy="3017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270248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Real Geeks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11496" y="427024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118/260 pts  (45%)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9728" y="4306824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" y="43068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103120" y="4645152"/>
            <a:ext cx="2830982" cy="30175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4645152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Wise Agent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979822" y="464515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</a:rPr>
              <a:t>112/260 pts  (43%)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9728" y="4681728"/>
            <a:ext cx="22860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728" y="468172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82880" y="4846320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BA0"/>
                </a:solidFill>
              </a:rPr>
              <a:t>← India-specific features weight the score heavily in Vitrag's favour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F40"/>
          </a:solidFill>
          <a:ln w="12700">
            <a:solidFill>
              <a:srgbClr val="111F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India-Specific Gap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0292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Features ONLY Vitrag &amp; Sell.do have — zero global CRMs support these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91440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91440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India Portal Integration (99acres, MagicBricks, Housing.com)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29844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All 8 others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14630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Indian lead volume — 60%+ comes from portals. Without this, agents enter leads manually. Hours lost daily.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192024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192024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0116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RERA Compliance Fields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230428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All others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600" y="24688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Legally mandatory for developers. Field agents need RERA number on every listing. Non-negotiable post-2017.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7160" y="292608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92608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0175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WhatsApp Business Native (not via Zapier)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331012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7 of 10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34747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78% of Indian realtors communicate via WhatsApp. A third-party Zapier bridge drops messages, adds latency, costs extra.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" y="393192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393192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0233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DND / TRAI Compliance Built-in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431596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All non-Indian CRMs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" y="44805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TRAI penalties for DND violations are ₹2.5L+ per complaint. No US CRM handles Indian telecom regulation.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91440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1440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0058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Online Unit Booking + UPI/Razorpay Payment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29844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All others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14630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Converts CRM from a tracker to a transaction platform. UPI is India's dominant payment rail. No workaround exists.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192024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92024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0116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KYC + Loan Processing Support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230428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All others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24688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Every property purchase in India requires KYC. Developers want this integrated, not via Google Drive links.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292608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92608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0175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Channel Partner (CP) Management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31012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All others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34747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60–70% of new-project sales in India run through CPs. Managing them inside the CRM = faster deals, better accountability.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3931920"/>
            <a:ext cx="434340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931920"/>
            <a:ext cx="4343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0233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Possession / Handover Tracker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431596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Sell.do: ✓  |  Others: ✗ All others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0" y="44805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</a:rPr>
              <a:t>Post-possession is when disputes happen. Tracking it inside the CRM prevents legal exposure and boosts NPS.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Feature Build Priority Matrix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</a:rPr>
              <a:t>What to build first, what can wait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868680"/>
            <a:ext cx="4343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868680"/>
            <a:ext cx="4343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86868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NOW — Phase 1–2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325880"/>
            <a:ext cx="137160" cy="1371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12984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WhatsApp BSP integration (WATI/Interakt)</a:t>
            </a:r>
            <a:endParaRPr lang="en-US" sz="8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568196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15407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India portal webhooks (99acres, MagicBricks)</a:t>
            </a:r>
            <a:endParaRPr lang="en-US" sz="8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810512"/>
            <a:ext cx="137160" cy="1371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" y="1783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Lead pipeline + Kanban + auto-assign</a:t>
            </a:r>
            <a:endParaRPr lang="en-US" sz="8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2052828"/>
            <a:ext cx="137160" cy="1371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20253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Click-to-call + call log + basic IVR</a:t>
            </a:r>
            <a:endParaRPr lang="en-US" sz="8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2295144"/>
            <a:ext cx="137160" cy="1371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" y="2267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Drip follow-up SOP (email + WhatsApp + SMS)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2537460"/>
            <a:ext cx="137160" cy="1371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57200" y="25100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Role-based access + team hierarchy</a:t>
            </a:r>
            <a:endParaRPr lang="en-US" sz="8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" y="2779776"/>
            <a:ext cx="137160" cy="1371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57200" y="275234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Real-time dashboard (leads, pipeline, agents)</a:t>
            </a:r>
            <a:endParaRPr lang="en-US" sz="850" dirty="0"/>
          </a:p>
        </p:txBody>
      </p:sp>
      <p:sp>
        <p:nvSpPr>
          <p:cNvPr id="26" name="Shape 17"/>
          <p:cNvSpPr/>
          <p:nvPr/>
        </p:nvSpPr>
        <p:spPr>
          <a:xfrm>
            <a:off x="4663440" y="868680"/>
            <a:ext cx="4343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4663440" y="868680"/>
            <a:ext cx="43434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4663440" y="86868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NEXT — Phase 3–4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1325880"/>
            <a:ext cx="137160" cy="1371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83480" y="12984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AI lead scoring (14-signal engine)</a:t>
            </a:r>
            <a:endParaRPr lang="en-US" sz="8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1568196"/>
            <a:ext cx="137160" cy="13716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83480" y="15407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Execution enforcement (stuck deal alerts, zero-leak)</a:t>
            </a:r>
            <a:endParaRPr lang="en-US" sz="8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1810512"/>
            <a:ext cx="137160" cy="1371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83480" y="1783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Property inventory + unit availability tracker</a:t>
            </a:r>
            <a:endParaRPr lang="en-US" sz="8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168" y="2052828"/>
            <a:ext cx="137160" cy="13716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983480" y="20253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RERA field + KYC document collection</a:t>
            </a:r>
            <a:endParaRPr lang="en-US" sz="8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2295144"/>
            <a:ext cx="137160" cy="13716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983480" y="2267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Channel partner management module</a:t>
            </a:r>
            <a:endParaRPr lang="en-US" sz="85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3168" y="2537460"/>
            <a:ext cx="137160" cy="137160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4983480" y="25100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Commission calculator + split management</a:t>
            </a:r>
            <a:endParaRPr lang="en-US" sz="85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3168" y="2779776"/>
            <a:ext cx="137160" cy="13716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4983480" y="275234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Full analytics suite (funnel, forecast, leaderboard)</a:t>
            </a:r>
            <a:endParaRPr lang="en-US" sz="850" dirty="0"/>
          </a:p>
        </p:txBody>
      </p:sp>
      <p:sp>
        <p:nvSpPr>
          <p:cNvPr id="43" name="Shape 27"/>
          <p:cNvSpPr/>
          <p:nvPr/>
        </p:nvSpPr>
        <p:spPr>
          <a:xfrm>
            <a:off x="137160" y="3063240"/>
            <a:ext cx="4343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28"/>
          <p:cNvSpPr/>
          <p:nvPr/>
        </p:nvSpPr>
        <p:spPr>
          <a:xfrm>
            <a:off x="137160" y="3063240"/>
            <a:ext cx="434340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5" name="Text 29"/>
          <p:cNvSpPr/>
          <p:nvPr/>
        </p:nvSpPr>
        <p:spPr>
          <a:xfrm>
            <a:off x="137160" y="306324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DIFFERENTIATE — Phase 5</a:t>
            </a:r>
            <a:endParaRPr lang="en-US" sz="110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6888" y="3520440"/>
            <a:ext cx="137160" cy="13716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457200" y="34930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AI call transcription (8+ Indian languages)</a:t>
            </a:r>
            <a:endParaRPr lang="en-US" sz="85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888" y="3762756"/>
            <a:ext cx="137160" cy="13716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457200" y="37353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AI draft generator (WhatsApp/email messages)</a:t>
            </a:r>
            <a:endParaRPr lang="en-US" sz="85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6888" y="4005072"/>
            <a:ext cx="137160" cy="137160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457200" y="3977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Online unit booking + UPI/Razorpay payment</a:t>
            </a:r>
            <a:endParaRPr lang="en-US" sz="850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6888" y="4247388"/>
            <a:ext cx="137160" cy="137160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457200" y="42199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Post-sales: demand letters, payment schedules</a:t>
            </a:r>
            <a:endParaRPr lang="en-US" sz="850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6888" y="4489704"/>
            <a:ext cx="137160" cy="137160"/>
          </a:xfrm>
          <a:prstGeom prst="rect">
            <a:avLst/>
          </a:prstGeom>
        </p:spPr>
      </p:pic>
      <p:sp>
        <p:nvSpPr>
          <p:cNvPr id="55" name="Text 34"/>
          <p:cNvSpPr/>
          <p:nvPr/>
        </p:nvSpPr>
        <p:spPr>
          <a:xfrm>
            <a:off x="457200" y="4462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Digital brochure / property microsite generator</a:t>
            </a:r>
            <a:endParaRPr lang="en-US" sz="850" dirty="0"/>
          </a:p>
        </p:txBody>
      </p:sp>
      <p:pic>
        <p:nvPicPr>
          <p:cNvPr id="5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6888" y="4732020"/>
            <a:ext cx="137160" cy="137160"/>
          </a:xfrm>
          <a:prstGeom prst="rect">
            <a:avLst/>
          </a:prstGeom>
        </p:spPr>
      </p:pic>
      <p:sp>
        <p:nvSpPr>
          <p:cNvPr id="57" name="Text 35"/>
          <p:cNvSpPr/>
          <p:nvPr/>
        </p:nvSpPr>
        <p:spPr>
          <a:xfrm>
            <a:off x="457200" y="47045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Channel partner incentive calculator</a:t>
            </a:r>
            <a:endParaRPr lang="en-US" sz="850" dirty="0"/>
          </a:p>
        </p:txBody>
      </p:sp>
      <p:sp>
        <p:nvSpPr>
          <p:cNvPr id="58" name="Shape 36"/>
          <p:cNvSpPr/>
          <p:nvPr/>
        </p:nvSpPr>
        <p:spPr>
          <a:xfrm>
            <a:off x="4663440" y="3063240"/>
            <a:ext cx="4343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37"/>
          <p:cNvSpPr/>
          <p:nvPr/>
        </p:nvSpPr>
        <p:spPr>
          <a:xfrm>
            <a:off x="4663440" y="3063240"/>
            <a:ext cx="43434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0" name="Text 38"/>
          <p:cNvSpPr/>
          <p:nvPr/>
        </p:nvSpPr>
        <p:spPr>
          <a:xfrm>
            <a:off x="4663440" y="306324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 — Phase 6</a:t>
            </a:r>
            <a:endParaRPr lang="en-US" sz="1100" dirty="0"/>
          </a:p>
        </p:txBody>
      </p:sp>
      <p:pic>
        <p:nvPicPr>
          <p:cNvPr id="6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73168" y="3520440"/>
            <a:ext cx="137160" cy="137160"/>
          </a:xfrm>
          <a:prstGeom prst="rect">
            <a:avLst/>
          </a:prstGeom>
        </p:spPr>
      </p:pic>
      <p:sp>
        <p:nvSpPr>
          <p:cNvPr id="62" name="Text 39"/>
          <p:cNvSpPr/>
          <p:nvPr/>
        </p:nvSpPr>
        <p:spPr>
          <a:xfrm>
            <a:off x="4983480" y="34930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Multi-language UI (Hindi, Tamil, Kannada etc.)</a:t>
            </a:r>
            <a:endParaRPr lang="en-US" sz="850" dirty="0"/>
          </a:p>
        </p:txBody>
      </p:sp>
      <p:pic>
        <p:nvPicPr>
          <p:cNvPr id="6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73168" y="3762756"/>
            <a:ext cx="137160" cy="137160"/>
          </a:xfrm>
          <a:prstGeom prst="rect">
            <a:avLst/>
          </a:prstGeom>
        </p:spPr>
      </p:pic>
      <p:sp>
        <p:nvSpPr>
          <p:cNvPr id="64" name="Text 40"/>
          <p:cNvSpPr/>
          <p:nvPr/>
        </p:nvSpPr>
        <p:spPr>
          <a:xfrm>
            <a:off x="4983480" y="37353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Offline / PWA mode for field agents</a:t>
            </a:r>
            <a:endParaRPr lang="en-US" sz="850" dirty="0"/>
          </a:p>
        </p:txBody>
      </p:sp>
      <p:pic>
        <p:nvPicPr>
          <p:cNvPr id="6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73168" y="4005072"/>
            <a:ext cx="137160" cy="137160"/>
          </a:xfrm>
          <a:prstGeom prst="rect">
            <a:avLst/>
          </a:prstGeom>
        </p:spPr>
      </p:pic>
      <p:sp>
        <p:nvSpPr>
          <p:cNvPr id="66" name="Text 41"/>
          <p:cNvSpPr/>
          <p:nvPr/>
        </p:nvSpPr>
        <p:spPr>
          <a:xfrm>
            <a:off x="4983480" y="3977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White-label for brokerages</a:t>
            </a:r>
            <a:endParaRPr lang="en-US" sz="850" dirty="0"/>
          </a:p>
        </p:txBody>
      </p:sp>
      <p:pic>
        <p:nvPicPr>
          <p:cNvPr id="6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73168" y="4247388"/>
            <a:ext cx="137160" cy="137160"/>
          </a:xfrm>
          <a:prstGeom prst="rect">
            <a:avLst/>
          </a:prstGeom>
        </p:spPr>
      </p:pic>
      <p:sp>
        <p:nvSpPr>
          <p:cNvPr id="68" name="Text 42"/>
          <p:cNvSpPr/>
          <p:nvPr/>
        </p:nvSpPr>
        <p:spPr>
          <a:xfrm>
            <a:off x="4983480" y="42199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Power BI / Tableau integration</a:t>
            </a:r>
            <a:endParaRPr lang="en-US" sz="850" dirty="0"/>
          </a:p>
        </p:txBody>
      </p:sp>
      <p:pic>
        <p:nvPicPr>
          <p:cNvPr id="6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73168" y="4489704"/>
            <a:ext cx="137160" cy="137160"/>
          </a:xfrm>
          <a:prstGeom prst="rect">
            <a:avLst/>
          </a:prstGeom>
        </p:spPr>
      </p:pic>
      <p:sp>
        <p:nvSpPr>
          <p:cNvPr id="70" name="Text 43"/>
          <p:cNvSpPr/>
          <p:nvPr/>
        </p:nvSpPr>
        <p:spPr>
          <a:xfrm>
            <a:off x="4983480" y="4462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Market pricing trend intelligence</a:t>
            </a:r>
            <a:endParaRPr lang="en-US" sz="850" dirty="0"/>
          </a:p>
        </p:txBody>
      </p:sp>
      <p:pic>
        <p:nvPicPr>
          <p:cNvPr id="7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73168" y="4732020"/>
            <a:ext cx="137160" cy="137160"/>
          </a:xfrm>
          <a:prstGeom prst="rect">
            <a:avLst/>
          </a:prstGeom>
        </p:spPr>
      </p:pic>
      <p:sp>
        <p:nvSpPr>
          <p:cNvPr id="72" name="Text 44"/>
          <p:cNvSpPr/>
          <p:nvPr/>
        </p:nvSpPr>
        <p:spPr>
          <a:xfrm>
            <a:off x="4983480" y="47045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500+ app marketplace via API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Vitrag CRM – Product Blueprint</dc:title>
  <dc:subject>PptxGenJS Presentation</dc:subject>
  <dc:creator>Vitrag CRM Team</dc:creator>
  <cp:lastModifiedBy>Vitrag CRM Team</cp:lastModifiedBy>
  <cp:revision>1</cp:revision>
  <dcterms:created xsi:type="dcterms:W3CDTF">2026-05-23T17:04:29Z</dcterms:created>
  <dcterms:modified xsi:type="dcterms:W3CDTF">2026-05-23T17:04:29Z</dcterms:modified>
</cp:coreProperties>
</file>