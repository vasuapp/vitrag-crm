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200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0574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9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">
            <a:off x="5669280" y="0"/>
            <a:ext cx="4572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VITRAG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EDF5"/>
                </a:solidFill>
              </a:rPr>
              <a:t>The All-Inclusive CRM for Indian Real Estate Professionals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02920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Scale Faster. Close Smarter. Retain Better.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</a:rPr>
              <a:t>Product Blueprint v1.0  |  Confidential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Built For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00584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0" y="960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Solo Realtors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0876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Small Brokerages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01168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Large Real Estate Teams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514600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0800" y="2468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Property Developers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035040" y="4663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2025 Launch Edition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Presentation 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What we'll cover 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914400"/>
            <a:ext cx="50292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9144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9144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The Problem — Why Realtors Need a Better CRM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709928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709928"/>
            <a:ext cx="502920" cy="65836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7099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17099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Market Opportunity &amp; Competitive Landscape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505456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05456"/>
            <a:ext cx="502920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054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25054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Vitrag CRM — Vision &amp; Product Philosophy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300984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00984"/>
            <a:ext cx="50292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009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3009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Complete Feature List — 10 Modules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096512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096512"/>
            <a:ext cx="502920" cy="65836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0965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400" y="40965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Top 10 CRM Comparison Matrix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914400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914400"/>
            <a:ext cx="502920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9144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91440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AI &amp; Automation Stack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1709928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1709928"/>
            <a:ext cx="50292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70992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94960" y="170992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Analytics &amp; Reporting Suite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2505456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2505456"/>
            <a:ext cx="502920" cy="65836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5054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94960" y="25054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Tech Architecture &amp; Integrations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00600" y="3300984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3300984"/>
            <a:ext cx="502920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3009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09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94960" y="33009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Go-to-Market &amp; Pricing Strategy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00600" y="4096512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00600" y="4096512"/>
            <a:ext cx="50292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40965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94960" y="40965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Roadmap &amp; Next Steps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 Space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Why Indian realtors are losing deals every 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914400"/>
            <a:ext cx="28346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05156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4088" y="102412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Scattered Leads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14173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</a:rPr>
              <a:t>Leads arrive from 8+ sources — 99acres, MagicBricks, WhatsApp, portals — managed across chats, notebooks, spreadsheets. No single view.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72968" y="91440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914400"/>
            <a:ext cx="28346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05156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48456" y="102412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Zero Follow-Up SOP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264408" y="14173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</a:rPr>
              <a:t>80% of leads are never followed up after Day 3. No automated reminders, no pipeline stage tracking, no accountability.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17336" y="91440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17336" y="914400"/>
            <a:ext cx="28346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105156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92824" y="102412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No Business Visibility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08776" y="14173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</a:rPr>
              <a:t>Realtors cannot answer: 'What's my conversion rate this month?' They have no dashboards, no funnel analytics, no team performance view.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228600" y="265176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28600" y="2651760"/>
            <a:ext cx="28346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2788920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4088" y="276148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Manual &amp; Repetitive Work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20040" y="31546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</a:rPr>
              <a:t>Proposal creation, property sharing, follow-up messages — all done manually. Hours lost per day that AI could automate.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172968" y="265176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72968" y="2651760"/>
            <a:ext cx="28346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2696" y="2788920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648456" y="276148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Team Chaos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264408" y="31546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</a:rPr>
              <a:t>In brokerages, leads are shared on WhatsApp groups. Duplication, ownership conflicts, no audit trail. Revenue lost.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6117336" y="265176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17336" y="2651760"/>
            <a:ext cx="28346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2788920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92824" y="2761488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Untracked Revenue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208776" y="31546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</a:rPr>
              <a:t>Commission records in Excel. No deal probability. No client lifetime value. No projected closings for the quarter.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0" y="4480560"/>
            <a:ext cx="914400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274320" y="4480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843"/>
                </a:solidFill>
              </a:rPr>
              <a:t>67% of leads go cold within 48 hours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3200400" y="4572000"/>
            <a:ext cx="18288" cy="320040"/>
          </a:xfrm>
          <a:prstGeom prst="rect">
            <a:avLst/>
          </a:prstGeom>
          <a:solidFill>
            <a:srgbClr val="7A8BA0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3337560" y="4480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843"/>
                </a:solidFill>
              </a:rPr>
              <a:t>Avg. realtor uses 4+ disconnected tools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6263640" y="4572000"/>
            <a:ext cx="18288" cy="320040"/>
          </a:xfrm>
          <a:prstGeom prst="rect">
            <a:avLst/>
          </a:prstGeom>
          <a:solidFill>
            <a:srgbClr val="7A8BA0"/>
          </a:solidFill>
          <a:ln w="12700">
            <a:solidFill>
              <a:srgbClr val="7A8BA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400800" y="4480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843"/>
                </a:solidFill>
              </a:rPr>
              <a:t>₹2L+ revenue lost/month due to poor follow-up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Market Opportunity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Indian real estate CRM is a massively underserved segment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74320" y="868680"/>
            <a:ext cx="201168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868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843"/>
                </a:solidFill>
              </a:rPr>
              <a:t>₹33L Cr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Indian Real Estate Market Size (2026)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868680"/>
            <a:ext cx="2011680" cy="1280160"/>
          </a:xfrm>
          <a:prstGeom prst="rect">
            <a:avLst/>
          </a:prstGeom>
          <a:solidFill>
            <a:srgbClr val="0F7173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868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843"/>
                </a:solidFill>
              </a:rPr>
              <a:t>9M+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6888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Licensed Real Estate Agents in India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2011680" cy="1280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868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843"/>
                </a:solidFill>
              </a:rPr>
              <a:t>&lt;5%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6344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Currently Using Any Dedicated CRM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868680"/>
            <a:ext cx="2011680" cy="1280160"/>
          </a:xfrm>
          <a:prstGeom prst="rect">
            <a:avLst/>
          </a:prstGeom>
          <a:solidFill>
            <a:srgbClr val="0F7173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868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843"/>
                </a:solidFill>
              </a:rPr>
              <a:t>₹8,000 Cr+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58000" y="1645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Addressable CRM Market (TAM)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Key Growth Drivers</a:t>
            </a:r>
            <a:endParaRPr lang="en-US" sz="13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24912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94360" y="2679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RERA-mandated documentation creating digital paper trails</a:t>
            </a:r>
            <a:endParaRPr lang="en-US" sz="10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72384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94360" y="30266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WhatsApp Business adoption by 78% of realtors</a:t>
            </a: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19856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4360" y="33741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PropTech VC funding ₹4,200 Cr in 2024</a:t>
            </a:r>
            <a:endParaRPr lang="en-US" sz="1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767328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94360" y="3721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Tier-2 city real estate boom — 40% new inventory</a:t>
            </a:r>
            <a:endParaRPr lang="en-US" sz="10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14800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94360" y="4069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Post-COVID digital workflow adoption acceleration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Addressable Funnel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4663440" y="2697480"/>
            <a:ext cx="384048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663440" y="2697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All Indian Realtors  9M+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5074920" y="3172968"/>
            <a:ext cx="3017520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074920" y="31729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Digitally Active  4M+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5486400" y="3648456"/>
            <a:ext cx="2194560" cy="38404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486400" y="364845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Open to CRM Adoption  1.5M+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897880" y="4123944"/>
            <a:ext cx="1371600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897880" y="41239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TAM for Vitrag  500K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D4A843"/>
                </a:solidFill>
              </a:rPr>
              <a:t>VITRAG CRM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Vision &amp; Product Philosophy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3716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DF5"/>
                </a:solidFill>
              </a:rPr>
              <a:t>"One platform. Every realtor workflow. Zero compromise."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3172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India-First:  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Built for Indian market — ₹ currency, RERA fields, WhatsApp-native, Hindi/regional naming conventions.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535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2907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AI-Augmented:  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49808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Every workflow has an AI layer — scoring, suggestions, draft generation, pattern recognition.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7530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" y="35295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Realtor-Grade UX:  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49808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Designed for field agents, not IT teams. Mobile-first. Tap-to-call. WhatsApp-send from CRM.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9709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9808" y="4151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Scalable from Day 1:  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749808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5"/>
                </a:solidFill>
              </a:rPr>
              <a:t>Works for a solo consultant and scales to a 200-person brokerage without re-implementation.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0800" y="502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Mission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760720" y="1051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Remove 80% of manual work from a realtor's day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5760720" y="1572768"/>
            <a:ext cx="310896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965960"/>
            <a:ext cx="502920" cy="5029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40080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Vision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576072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India's #1 real estate CRM by 2027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5760720" y="2990088"/>
            <a:ext cx="3108960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383280"/>
            <a:ext cx="502920" cy="5029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40080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5760720" y="3886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10,000 realtors in 18 months post-launch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8BA0"/>
                </a:solidFill>
              </a:rPr>
              <a:t>vitragcrm.com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Core Modules — Feature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Every module is a complete workflow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914400"/>
            <a:ext cx="1627632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0058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8600" y="960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28600" y="141732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</a:rPr>
              <a:t>Lead Management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947672" y="9144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947672" y="914400"/>
            <a:ext cx="1627632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00584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93392" y="960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993392" y="141732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</a:rPr>
              <a:t>Contact &amp; Client Database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712464" y="9144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12464" y="914400"/>
            <a:ext cx="1627632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0058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58184" y="960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758184" y="141732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</a:rPr>
              <a:t>Property Inventory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77256" y="9144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77256" y="914400"/>
            <a:ext cx="1627632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2" y="10058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22976" y="960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522976" y="141732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</a:rPr>
              <a:t>Deal Pipeline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242048" y="91440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242048" y="914400"/>
            <a:ext cx="1627632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2984" y="100584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287768" y="960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7287768" y="141732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</a:rPr>
              <a:t>AI &amp; Automation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182880" y="283464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82880" y="2834640"/>
            <a:ext cx="1627632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" y="2926080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28600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228600" y="33375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</a:rPr>
              <a:t>Analytics &amp; Reports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1947672" y="283464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1947672" y="2834640"/>
            <a:ext cx="1627632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8608" y="2926080"/>
            <a:ext cx="365760" cy="36576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993392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1993392" y="33375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</a:rPr>
              <a:t>Omnichannel Communication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3712464" y="283464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3712464" y="2834640"/>
            <a:ext cx="1627632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400" y="2926080"/>
            <a:ext cx="365760" cy="36576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3758184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3758184" y="33375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</a:rPr>
              <a:t>Task &amp; Activity Manager</a:t>
            </a:r>
            <a:endParaRPr lang="en-US" sz="1050" dirty="0"/>
          </a:p>
        </p:txBody>
      </p:sp>
      <p:sp>
        <p:nvSpPr>
          <p:cNvPr id="49" name="Shape 39"/>
          <p:cNvSpPr/>
          <p:nvPr/>
        </p:nvSpPr>
        <p:spPr>
          <a:xfrm>
            <a:off x="5477256" y="283464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5477256" y="2834640"/>
            <a:ext cx="1627632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8192" y="2926080"/>
            <a:ext cx="365760" cy="36576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5522976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53" name="Text 42"/>
          <p:cNvSpPr/>
          <p:nvPr/>
        </p:nvSpPr>
        <p:spPr>
          <a:xfrm>
            <a:off x="5522976" y="33375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</a:rPr>
              <a:t>Team &amp; Role Management</a:t>
            </a:r>
            <a:endParaRPr lang="en-US" sz="1050" dirty="0"/>
          </a:p>
        </p:txBody>
      </p:sp>
      <p:sp>
        <p:nvSpPr>
          <p:cNvPr id="54" name="Shape 43"/>
          <p:cNvSpPr/>
          <p:nvPr/>
        </p:nvSpPr>
        <p:spPr>
          <a:xfrm>
            <a:off x="7242048" y="2834640"/>
            <a:ext cx="162763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7242048" y="2834640"/>
            <a:ext cx="1627632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72984" y="2926080"/>
            <a:ext cx="365760" cy="36576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7287768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010</a:t>
            </a:r>
            <a:endParaRPr lang="en-US" sz="900" dirty="0"/>
          </a:p>
        </p:txBody>
      </p:sp>
      <p:sp>
        <p:nvSpPr>
          <p:cNvPr id="58" name="Text 46"/>
          <p:cNvSpPr/>
          <p:nvPr/>
        </p:nvSpPr>
        <p:spPr>
          <a:xfrm>
            <a:off x="7287768" y="33375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C3E50"/>
                </a:solidFill>
              </a:rPr>
              <a:t>Integrations &amp; Security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01 — Lead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Capture, score, assign &amp; nurture every lead automatically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68680"/>
            <a:ext cx="54864" cy="1600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960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Multi-Source Ingestion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6616" y="137160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A0"/>
                </a:solidFill>
              </a:rPr>
              <a:t>Auto-capture from 99acres, MagicBricks, Housing.com, GSuite portal, WhatsApp, Facebook Ads, website forms — unified inbox.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72968" y="86868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72968" y="868680"/>
            <a:ext cx="54864" cy="1600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0058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75888" y="960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AI Lead Scoring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00984" y="137160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A0"/>
                </a:solidFill>
              </a:rPr>
              <a:t>14-signal scoring engine: budget fit, property type match, engagement level, source quality, response time. Score 1–100.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117336" y="86868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17336" y="868680"/>
            <a:ext cx="54864" cy="1600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0058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0256" y="960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Smart Deduplication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45352" y="137160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A0"/>
                </a:solidFill>
              </a:rPr>
              <a:t>Phone number normalization + name fuzzy-match. Merge duplicates automatically. Keep complete activity history.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228600" y="260604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28600" y="2606040"/>
            <a:ext cx="54864" cy="1600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74320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1520" y="26974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Auto Assignment Rules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56616" y="310896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A0"/>
                </a:solidFill>
              </a:rPr>
              <a:t>Round-robin, geography-based, specialisation-based or manual assignment. Escalation if no action in X hours.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172968" y="260604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72968" y="2606040"/>
            <a:ext cx="54864" cy="1600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274320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675888" y="26974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Follow-Up Sequences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300984" y="310896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A0"/>
                </a:solidFill>
              </a:rPr>
              <a:t>Set drip campaigns: Day 1 call, Day 2 WhatsApp, Day 4 email, Day 7 re-engage. Fully customisable SOPs.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117336" y="2606040"/>
            <a:ext cx="2834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117336" y="2606040"/>
            <a:ext cx="54864" cy="1600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274320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620256" y="269748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Lead Stage Pipeline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245352" y="3108960"/>
            <a:ext cx="2615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BA0"/>
                </a:solidFill>
              </a:rPr>
              <a:t>New → Contacted → Interested → Site Visit → Negotiation → Closed/Lost. Drag-drop Kanban view.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0" y="4453128"/>
            <a:ext cx="9144000" cy="5029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182880" y="4453128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✦  Sources Supported: 99acres · MagicBricks · Housing.com · NoBroker · Square Yards · Facebook Ads · Google Ads · WhatsApp · Website Widget · Manual Entry · Excel Import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03 &amp; 04 — Property Inventory + Deal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Full inventory management + visual deal tracking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868680"/>
            <a:ext cx="42062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868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PROPERTY INVENTORY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07592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1208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Multi-category: Residential, Commercial, Plot, Villa</a:t>
            </a:r>
            <a:endParaRPr lang="en-US" sz="9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55064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" y="1627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Full media library: photos, floor plans, brochures, videos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002536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" y="1975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RERA number field + compliance status tracker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5000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1208" y="2322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Auto-generate property microsites / digital brochures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697480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208" y="2670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Availability status: Available / Under Offer / Sold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044952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21208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Match engine: auto-suggest properties to leads by criteria</a:t>
            </a:r>
            <a:endParaRPr lang="en-US" sz="9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392424"/>
            <a:ext cx="164592" cy="16459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1208" y="3364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Price history log &amp; revision tracking</a:t>
            </a:r>
            <a:endParaRPr lang="en-US" sz="9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39896"/>
            <a:ext cx="164592" cy="1645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1208" y="3712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Builder/developer relationship management</a:t>
            </a:r>
            <a:endParaRPr lang="en-US" sz="950" dirty="0"/>
          </a:p>
        </p:txBody>
      </p:sp>
      <p:sp>
        <p:nvSpPr>
          <p:cNvPr id="27" name="Shape 17"/>
          <p:cNvSpPr/>
          <p:nvPr/>
        </p:nvSpPr>
        <p:spPr>
          <a:xfrm>
            <a:off x="4754880" y="868680"/>
            <a:ext cx="4206240" cy="3474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4754880" y="868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DEAL PIPELINE</a:t>
            </a:r>
            <a:endParaRPr lang="en-US" sz="11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07592"/>
            <a:ext cx="164592" cy="16459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093208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Visual Kanban: drag deals across 7 pipeline stages</a:t>
            </a:r>
            <a:endParaRPr lang="en-US" sz="9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655064"/>
            <a:ext cx="164592" cy="16459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093208" y="1627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Deal value, commission %, expected close date</a:t>
            </a:r>
            <a:endParaRPr lang="en-US" sz="95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02536"/>
            <a:ext cx="164592" cy="164592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5093208" y="1975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Activity log: calls, visits, negotiations, documents</a:t>
            </a:r>
            <a:endParaRPr lang="en-US" sz="95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50008"/>
            <a:ext cx="164592" cy="164592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093208" y="2322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Automated stage-change notifications to team</a:t>
            </a:r>
            <a:endParaRPr lang="en-US" sz="95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97480"/>
            <a:ext cx="164592" cy="164592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5093208" y="2670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Lost deal analysis: reason tagging + win/loss report</a:t>
            </a:r>
            <a:endParaRPr lang="en-US" sz="95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044952"/>
            <a:ext cx="164592" cy="164592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5093208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Commission calculator with split configuration</a:t>
            </a:r>
            <a:endParaRPr lang="en-US" sz="950" dirty="0"/>
          </a:p>
        </p:txBody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392424"/>
            <a:ext cx="164592" cy="164592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5093208" y="3364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Deal forecasting: probability-weighted revenue view</a:t>
            </a:r>
            <a:endParaRPr lang="en-US" sz="95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739896"/>
            <a:ext cx="164592" cy="164592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5093208" y="3712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Digital document vault per deal (agreement, receipts)</a:t>
            </a:r>
            <a:endParaRPr lang="en-US" sz="950" dirty="0"/>
          </a:p>
        </p:txBody>
      </p:sp>
      <p:sp>
        <p:nvSpPr>
          <p:cNvPr id="45" name="Shape 27"/>
          <p:cNvSpPr/>
          <p:nvPr/>
        </p:nvSpPr>
        <p:spPr>
          <a:xfrm>
            <a:off x="4526280" y="868680"/>
            <a:ext cx="91440" cy="406908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F40"/>
          </a:solidFill>
          <a:ln w="12700">
            <a:solidFill>
              <a:srgbClr val="111F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05 — AI &amp; Automation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114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843"/>
                </a:solidFill>
              </a:rPr>
              <a:t>Where Vitrag CRM outclasses every generic CRM in the market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834640" cy="16916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60120"/>
            <a:ext cx="28346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09728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105156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Lead Scoring AI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14-signal ML model scores every lead 1–100. Factors: source, response time, budget match, property type preference, engagement depth.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63824" y="960120"/>
            <a:ext cx="2834640" cy="16916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63824" y="960120"/>
            <a:ext cx="28346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09728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105156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Draft Generator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55264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AI writes WhatsApp follow-up messages, property proposals, email templates based on lead profile and stage. One-click send.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44768" y="960120"/>
            <a:ext cx="2834640" cy="16916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44768" y="960120"/>
            <a:ext cx="28346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09728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0256" y="105156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Next Best Action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36208" y="1463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After each interaction, AI suggests: 'Call now', 'Send property brochure', 'Schedule site visit', 'Offer alternative property'.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182880" y="2834640"/>
            <a:ext cx="2834640" cy="16916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82880" y="2834640"/>
            <a:ext cx="28346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" y="297180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8368" y="292608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Churn Prediction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74320" y="33375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Identifies leads going cold before they do. Flags unengaged leads 3 days before typical dropout window.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163824" y="2834640"/>
            <a:ext cx="2834640" cy="16916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163824" y="2834640"/>
            <a:ext cx="28346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552" y="2971800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39312" y="292608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Market Insights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255264" y="33375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Pulls pricing trends, inventory movement, buyer sentiment from aggregated anonymous data. Weekly realtor briefing.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144768" y="2834640"/>
            <a:ext cx="2834640" cy="169164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44768" y="2834640"/>
            <a:ext cx="283464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2971800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20256" y="2926080"/>
            <a:ext cx="2267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Workflow Automation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236208" y="33375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No-code automation builder: If [lead source = FB Ad] + [budget &gt; 50L] → assign to senior agent + send premium welcome sequence.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8BA0"/>
                </a:solidFill>
              </a:rPr>
              <a:t>vitragcrm.com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07 — Omnichannel Communication Hub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WhatsApp · Email · SMS · Call · In-App — all from one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68680"/>
            <a:ext cx="201168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91440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28600" y="1353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WhatsApp Business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" y="1719072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0"/>
                </a:solidFill>
              </a:rPr>
              <a:t>WATI/Interakt BSP integration. Broadcast lists, templated sequences, quick replies. All chats logged to lead record.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23160" y="8686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23160" y="868680"/>
            <a:ext cx="2011680" cy="5943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9144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23160" y="1353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Email Campaigns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514600" y="1719072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0"/>
                </a:solidFill>
              </a:rPr>
              <a:t>SMTP / Gmail integration. Automated drip sequences. Open/click tracking. HTML templates for property brochures.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617720" y="8686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17720" y="868680"/>
            <a:ext cx="201168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91440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17720" y="1353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Click-to-Call + Log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709160" y="1719072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0"/>
                </a:solidFill>
              </a:rPr>
              <a:t>One-tap calling from any lead record. Auto-log call outcome. Record if permitted. Generate call summary via AI.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812280" y="8686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812280" y="868680"/>
            <a:ext cx="2011680" cy="594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91440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12280" y="1353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SMS Gateway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903720" y="1719072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BA0"/>
                </a:solidFill>
              </a:rPr>
              <a:t>Bulk SMS for site visit reminders, launch announcements. DLT-compliant templates. Delivery reports.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182880" y="4133088"/>
            <a:ext cx="8778240" cy="8229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4224528"/>
            <a:ext cx="164592" cy="1645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864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Unified Inbox — all channel messages in one timeline per lead</a:t>
            </a:r>
            <a:endParaRPr lang="en-US" sz="85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4224528"/>
            <a:ext cx="164592" cy="16459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74320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Auto-response bot for off-hours lead queries (WhatsApp + website)</a:t>
            </a:r>
            <a:endParaRPr lang="en-US" sz="8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224528"/>
            <a:ext cx="164592" cy="1645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93776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Read receipts &amp; engagement tracking across all channels</a:t>
            </a:r>
            <a:endParaRPr lang="en-US" sz="8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4224528"/>
            <a:ext cx="164592" cy="16459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132320" y="4206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Compliance: DND check, opt-out management, TRAI compliance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Module 06 — Analytics &amp; Reporting Suite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Real-time dashboards, forecasts &amp; performance intelligence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86868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68680"/>
            <a:ext cx="278892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9144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886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Lead Analytics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63040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14356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Lead source performance (CPL by source)</a:t>
            </a:r>
            <a:endParaRPr lang="en-US" sz="10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057400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4360" y="2029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Stage conversion funnel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651760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4360" y="2624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Response time distribution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46120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94360" y="32186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Lead score histogram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3172968" y="86868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172968" y="868680"/>
            <a:ext cx="2788920" cy="5029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2696" y="91440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675888" y="886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Revenue Forecasting</a:t>
            </a:r>
            <a:endParaRPr lang="en-US" sz="12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463040"/>
            <a:ext cx="164592" cy="16459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538728" y="14356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Pipeline value by stage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057400"/>
            <a:ext cx="164592" cy="16459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538728" y="2029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Probability-weighted close forecast</a:t>
            </a:r>
            <a:endParaRPr lang="en-US" sz="10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651760"/>
            <a:ext cx="164592" cy="16459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538728" y="2624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Commission projection (monthly/quarterly)</a:t>
            </a:r>
            <a:endParaRPr lang="en-US" sz="10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3246120"/>
            <a:ext cx="164592" cy="16459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538728" y="32186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Won vs lost revenue trend</a:t>
            </a:r>
            <a:endParaRPr lang="en-US" sz="1000" dirty="0"/>
          </a:p>
        </p:txBody>
      </p:sp>
      <p:sp>
        <p:nvSpPr>
          <p:cNvPr id="33" name="Shape 21"/>
          <p:cNvSpPr/>
          <p:nvPr/>
        </p:nvSpPr>
        <p:spPr>
          <a:xfrm>
            <a:off x="6117336" y="86868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6117336" y="868680"/>
            <a:ext cx="278892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914400"/>
            <a:ext cx="320040" cy="32004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620256" y="8869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Team Performance</a:t>
            </a:r>
            <a:endParaRPr lang="en-US" sz="12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463040"/>
            <a:ext cx="164592" cy="16459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483096" y="14356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Agent leaderboard (leads, visits, closings)</a:t>
            </a:r>
            <a:endParaRPr lang="en-US" sz="100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057400"/>
            <a:ext cx="164592" cy="164592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6483096" y="2029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Activity log per agent</a:t>
            </a:r>
            <a:endParaRPr lang="en-US" sz="10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2651760"/>
            <a:ext cx="164592" cy="164592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6483096" y="26243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Conversion rate by agent</a:t>
            </a:r>
            <a:endParaRPr lang="en-US" sz="1000" dirty="0"/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246120"/>
            <a:ext cx="164592" cy="164592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6483096" y="32186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SLA compliance (follow-up speed)</a:t>
            </a:r>
            <a:endParaRPr lang="en-US" sz="1000" dirty="0"/>
          </a:p>
        </p:txBody>
      </p:sp>
      <p:sp>
        <p:nvSpPr>
          <p:cNvPr id="45" name="Shape 28"/>
          <p:cNvSpPr/>
          <p:nvPr/>
        </p:nvSpPr>
        <p:spPr>
          <a:xfrm>
            <a:off x="0" y="4434840"/>
            <a:ext cx="914400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6" name="Text 29"/>
          <p:cNvSpPr/>
          <p:nvPr/>
        </p:nvSpPr>
        <p:spPr>
          <a:xfrm>
            <a:off x="182880" y="44348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843"/>
                </a:solidFill>
              </a:rPr>
              <a:t>Also Included: Property Performance Report  ·  Client Retention Report  ·  Campaign ROI Report  ·  Market Price Trend Report  ·  Custom Report Builder  ·  Scheduled PDF Exports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10 CRM Comparison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Vitrag CRM vs. leading real estate CRMs in the 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" y="886968"/>
            <a:ext cx="155448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886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Feature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91640" y="886968"/>
            <a:ext cx="694944" cy="34747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Vitrag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404872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SFDC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118104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8104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HubSpot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831336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31336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Zoho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44568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LionDesk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257800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FUB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971032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1032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kvCORE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684264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PropBase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397496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97496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Wise Agent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110728" y="886968"/>
            <a:ext cx="694944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0728" y="886968"/>
            <a:ext cx="694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Streak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1440" y="1271016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" y="1271016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WhatsApp Native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691640" y="1271016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1640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04872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04872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18104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18104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831336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31336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44568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44568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257800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57800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71032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71032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84264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84264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397496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97496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110728" y="127101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10728" y="127101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1440" y="1572768"/>
            <a:ext cx="15544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8016" y="1572768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AI Lead Scoring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91640" y="1572768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91640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404872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04872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118104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18104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831336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31336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44568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44568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257800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57800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971032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71032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84264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84264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397496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97496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110728" y="157276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110728" y="157276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1440" y="1874520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28016" y="1874520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India Portal Integration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691640" y="1874520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91640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404872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404872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118104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18104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831336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831336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544568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44568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257800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257800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971032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971032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684264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684264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397496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97496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110728" y="1874520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110728" y="187452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91440" y="2176272"/>
            <a:ext cx="15544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28016" y="2176272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Property Inventory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691640" y="2176272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691640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2404872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404872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3118104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118104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3831336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831336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4544568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544568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5257800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257800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971032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971032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6684264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684264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7397496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397496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8110728" y="2176272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110728" y="217627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91440" y="2478024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28016" y="2478024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Kanban Pipeline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1691640" y="2478024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691640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2404872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404872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3118104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118104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3831336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831336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4544568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544568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5257800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257800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5971032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971032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35" name="Shape 133"/>
          <p:cNvSpPr/>
          <p:nvPr/>
        </p:nvSpPr>
        <p:spPr>
          <a:xfrm>
            <a:off x="6684264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684264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37" name="Shape 135"/>
          <p:cNvSpPr/>
          <p:nvPr/>
        </p:nvSpPr>
        <p:spPr>
          <a:xfrm>
            <a:off x="7397496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97496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>
            <a:off x="8110728" y="2478024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110728" y="247802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91440" y="2779776"/>
            <a:ext cx="15544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28016" y="2779776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Auto Follow-up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1691640" y="2779776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691640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2404872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2404872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3118104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118104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3831336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831336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51" name="Shape 149"/>
          <p:cNvSpPr/>
          <p:nvPr/>
        </p:nvSpPr>
        <p:spPr>
          <a:xfrm>
            <a:off x="4544568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4544568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5257800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5257800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55" name="Shape 153"/>
          <p:cNvSpPr/>
          <p:nvPr/>
        </p:nvSpPr>
        <p:spPr>
          <a:xfrm>
            <a:off x="5971032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971032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6684264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684264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7397496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397496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8110728" y="2779776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8110728" y="277977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91440" y="3081528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28016" y="3081528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Commission Calc.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1691640" y="3081528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691640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2404872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404872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69" name="Shape 167"/>
          <p:cNvSpPr/>
          <p:nvPr/>
        </p:nvSpPr>
        <p:spPr>
          <a:xfrm>
            <a:off x="3118104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118104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71" name="Shape 169"/>
          <p:cNvSpPr/>
          <p:nvPr/>
        </p:nvSpPr>
        <p:spPr>
          <a:xfrm>
            <a:off x="3831336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3831336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73" name="Shape 171"/>
          <p:cNvSpPr/>
          <p:nvPr/>
        </p:nvSpPr>
        <p:spPr>
          <a:xfrm>
            <a:off x="4544568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544568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75" name="Shape 173"/>
          <p:cNvSpPr/>
          <p:nvPr/>
        </p:nvSpPr>
        <p:spPr>
          <a:xfrm>
            <a:off x="5257800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257800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77" name="Shape 175"/>
          <p:cNvSpPr/>
          <p:nvPr/>
        </p:nvSpPr>
        <p:spPr>
          <a:xfrm>
            <a:off x="5971032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971032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79" name="Shape 177"/>
          <p:cNvSpPr/>
          <p:nvPr/>
        </p:nvSpPr>
        <p:spPr>
          <a:xfrm>
            <a:off x="6684264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6684264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81" name="Shape 179"/>
          <p:cNvSpPr/>
          <p:nvPr/>
        </p:nvSpPr>
        <p:spPr>
          <a:xfrm>
            <a:off x="7397496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7397496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83" name="Shape 181"/>
          <p:cNvSpPr/>
          <p:nvPr/>
        </p:nvSpPr>
        <p:spPr>
          <a:xfrm>
            <a:off x="8110728" y="3081528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110728" y="308152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185" name="Shape 183"/>
          <p:cNvSpPr/>
          <p:nvPr/>
        </p:nvSpPr>
        <p:spPr>
          <a:xfrm>
            <a:off x="91440" y="3383280"/>
            <a:ext cx="15544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128016" y="3383280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Team Roles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1691640" y="3383280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691640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89" name="Shape 187"/>
          <p:cNvSpPr/>
          <p:nvPr/>
        </p:nvSpPr>
        <p:spPr>
          <a:xfrm>
            <a:off x="2404872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2404872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91" name="Shape 189"/>
          <p:cNvSpPr/>
          <p:nvPr/>
        </p:nvSpPr>
        <p:spPr>
          <a:xfrm>
            <a:off x="3118104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3118104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93" name="Shape 191"/>
          <p:cNvSpPr/>
          <p:nvPr/>
        </p:nvSpPr>
        <p:spPr>
          <a:xfrm>
            <a:off x="3831336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3831336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95" name="Shape 193"/>
          <p:cNvSpPr/>
          <p:nvPr/>
        </p:nvSpPr>
        <p:spPr>
          <a:xfrm>
            <a:off x="4544568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544568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197" name="Shape 195"/>
          <p:cNvSpPr/>
          <p:nvPr/>
        </p:nvSpPr>
        <p:spPr>
          <a:xfrm>
            <a:off x="5257800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257800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199" name="Shape 197"/>
          <p:cNvSpPr/>
          <p:nvPr/>
        </p:nvSpPr>
        <p:spPr>
          <a:xfrm>
            <a:off x="5971032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5971032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01" name="Shape 199"/>
          <p:cNvSpPr/>
          <p:nvPr/>
        </p:nvSpPr>
        <p:spPr>
          <a:xfrm>
            <a:off x="6684264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6684264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03" name="Shape 201"/>
          <p:cNvSpPr/>
          <p:nvPr/>
        </p:nvSpPr>
        <p:spPr>
          <a:xfrm>
            <a:off x="7397496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7397496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05" name="Shape 203"/>
          <p:cNvSpPr/>
          <p:nvPr/>
        </p:nvSpPr>
        <p:spPr>
          <a:xfrm>
            <a:off x="8110728" y="3383280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8110728" y="3383280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07" name="Shape 205"/>
          <p:cNvSpPr/>
          <p:nvPr/>
        </p:nvSpPr>
        <p:spPr>
          <a:xfrm>
            <a:off x="91440" y="3685032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128016" y="3685032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Mobile App</a:t>
            </a:r>
            <a:endParaRPr lang="en-US" sz="800" dirty="0"/>
          </a:p>
        </p:txBody>
      </p:sp>
      <p:sp>
        <p:nvSpPr>
          <p:cNvPr id="209" name="Shape 207"/>
          <p:cNvSpPr/>
          <p:nvPr/>
        </p:nvSpPr>
        <p:spPr>
          <a:xfrm>
            <a:off x="1691640" y="3685032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1691640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11" name="Shape 209"/>
          <p:cNvSpPr/>
          <p:nvPr/>
        </p:nvSpPr>
        <p:spPr>
          <a:xfrm>
            <a:off x="2404872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2404872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13" name="Shape 211"/>
          <p:cNvSpPr/>
          <p:nvPr/>
        </p:nvSpPr>
        <p:spPr>
          <a:xfrm>
            <a:off x="3118104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3118104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15" name="Shape 213"/>
          <p:cNvSpPr/>
          <p:nvPr/>
        </p:nvSpPr>
        <p:spPr>
          <a:xfrm>
            <a:off x="3831336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3831336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17" name="Shape 215"/>
          <p:cNvSpPr/>
          <p:nvPr/>
        </p:nvSpPr>
        <p:spPr>
          <a:xfrm>
            <a:off x="4544568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4544568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19" name="Shape 217"/>
          <p:cNvSpPr/>
          <p:nvPr/>
        </p:nvSpPr>
        <p:spPr>
          <a:xfrm>
            <a:off x="5257800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5257800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21" name="Shape 219"/>
          <p:cNvSpPr/>
          <p:nvPr/>
        </p:nvSpPr>
        <p:spPr>
          <a:xfrm>
            <a:off x="5971032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5971032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23" name="Shape 221"/>
          <p:cNvSpPr/>
          <p:nvPr/>
        </p:nvSpPr>
        <p:spPr>
          <a:xfrm>
            <a:off x="6684264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6684264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25" name="Shape 223"/>
          <p:cNvSpPr/>
          <p:nvPr/>
        </p:nvSpPr>
        <p:spPr>
          <a:xfrm>
            <a:off x="7397496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7397496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27" name="Shape 225"/>
          <p:cNvSpPr/>
          <p:nvPr/>
        </p:nvSpPr>
        <p:spPr>
          <a:xfrm>
            <a:off x="8110728" y="3685032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8110728" y="3685032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29" name="Shape 227"/>
          <p:cNvSpPr/>
          <p:nvPr/>
        </p:nvSpPr>
        <p:spPr>
          <a:xfrm>
            <a:off x="91440" y="3986784"/>
            <a:ext cx="15544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28016" y="3986784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Custom Reports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1691640" y="3986784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691640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33" name="Shape 231"/>
          <p:cNvSpPr/>
          <p:nvPr/>
        </p:nvSpPr>
        <p:spPr>
          <a:xfrm>
            <a:off x="2404872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2404872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35" name="Shape 233"/>
          <p:cNvSpPr/>
          <p:nvPr/>
        </p:nvSpPr>
        <p:spPr>
          <a:xfrm>
            <a:off x="3118104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3118104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37" name="Shape 235"/>
          <p:cNvSpPr/>
          <p:nvPr/>
        </p:nvSpPr>
        <p:spPr>
          <a:xfrm>
            <a:off x="3831336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3831336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39" name="Shape 237"/>
          <p:cNvSpPr/>
          <p:nvPr/>
        </p:nvSpPr>
        <p:spPr>
          <a:xfrm>
            <a:off x="4544568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4544568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41" name="Shape 239"/>
          <p:cNvSpPr/>
          <p:nvPr/>
        </p:nvSpPr>
        <p:spPr>
          <a:xfrm>
            <a:off x="5257800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5257800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43" name="Shape 241"/>
          <p:cNvSpPr/>
          <p:nvPr/>
        </p:nvSpPr>
        <p:spPr>
          <a:xfrm>
            <a:off x="5971032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5971032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45" name="Shape 243"/>
          <p:cNvSpPr/>
          <p:nvPr/>
        </p:nvSpPr>
        <p:spPr>
          <a:xfrm>
            <a:off x="6684264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6684264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47" name="Shape 245"/>
          <p:cNvSpPr/>
          <p:nvPr/>
        </p:nvSpPr>
        <p:spPr>
          <a:xfrm>
            <a:off x="7397496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7397496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49" name="Shape 247"/>
          <p:cNvSpPr/>
          <p:nvPr/>
        </p:nvSpPr>
        <p:spPr>
          <a:xfrm>
            <a:off x="8110728" y="3986784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8110728" y="3986784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7E22"/>
                </a:solidFill>
              </a:rPr>
              <a:t>~</a:t>
            </a:r>
            <a:endParaRPr lang="en-US" sz="1000" dirty="0"/>
          </a:p>
        </p:txBody>
      </p:sp>
      <p:sp>
        <p:nvSpPr>
          <p:cNvPr id="251" name="Shape 249"/>
          <p:cNvSpPr/>
          <p:nvPr/>
        </p:nvSpPr>
        <p:spPr>
          <a:xfrm>
            <a:off x="91440" y="4288536"/>
            <a:ext cx="1554480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128016" y="4288536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RERA Fields</a:t>
            </a:r>
            <a:endParaRPr lang="en-US" sz="800" dirty="0"/>
          </a:p>
        </p:txBody>
      </p:sp>
      <p:sp>
        <p:nvSpPr>
          <p:cNvPr id="253" name="Shape 251"/>
          <p:cNvSpPr/>
          <p:nvPr/>
        </p:nvSpPr>
        <p:spPr>
          <a:xfrm>
            <a:off x="1691640" y="4288536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691640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✓</a:t>
            </a:r>
            <a:endParaRPr lang="en-US" sz="1000" dirty="0"/>
          </a:p>
        </p:txBody>
      </p:sp>
      <p:sp>
        <p:nvSpPr>
          <p:cNvPr id="255" name="Shape 253"/>
          <p:cNvSpPr/>
          <p:nvPr/>
        </p:nvSpPr>
        <p:spPr>
          <a:xfrm>
            <a:off x="2404872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2404872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57" name="Shape 255"/>
          <p:cNvSpPr/>
          <p:nvPr/>
        </p:nvSpPr>
        <p:spPr>
          <a:xfrm>
            <a:off x="3118104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3118104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59" name="Shape 257"/>
          <p:cNvSpPr/>
          <p:nvPr/>
        </p:nvSpPr>
        <p:spPr>
          <a:xfrm>
            <a:off x="3831336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3831336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61" name="Shape 259"/>
          <p:cNvSpPr/>
          <p:nvPr/>
        </p:nvSpPr>
        <p:spPr>
          <a:xfrm>
            <a:off x="4544568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4544568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63" name="Shape 261"/>
          <p:cNvSpPr/>
          <p:nvPr/>
        </p:nvSpPr>
        <p:spPr>
          <a:xfrm>
            <a:off x="5257800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5257800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65" name="Shape 263"/>
          <p:cNvSpPr/>
          <p:nvPr/>
        </p:nvSpPr>
        <p:spPr>
          <a:xfrm>
            <a:off x="5971032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5971032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67" name="Shape 265"/>
          <p:cNvSpPr/>
          <p:nvPr/>
        </p:nvSpPr>
        <p:spPr>
          <a:xfrm>
            <a:off x="6684264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6684264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69" name="Shape 267"/>
          <p:cNvSpPr/>
          <p:nvPr/>
        </p:nvSpPr>
        <p:spPr>
          <a:xfrm>
            <a:off x="7397496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7397496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71" name="Shape 269"/>
          <p:cNvSpPr/>
          <p:nvPr/>
        </p:nvSpPr>
        <p:spPr>
          <a:xfrm>
            <a:off x="8110728" y="4288536"/>
            <a:ext cx="694944" cy="2834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8110728" y="4288536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</a:rPr>
              <a:t>✗</a:t>
            </a:r>
            <a:endParaRPr lang="en-US" sz="1000" dirty="0"/>
          </a:p>
        </p:txBody>
      </p:sp>
      <p:sp>
        <p:nvSpPr>
          <p:cNvPr id="273" name="Shape 271"/>
          <p:cNvSpPr/>
          <p:nvPr/>
        </p:nvSpPr>
        <p:spPr>
          <a:xfrm>
            <a:off x="91440" y="4590288"/>
            <a:ext cx="1554480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128016" y="4590288"/>
            <a:ext cx="14813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Starting Price/mo</a:t>
            </a:r>
            <a:endParaRPr lang="en-US" sz="800" dirty="0"/>
          </a:p>
        </p:txBody>
      </p:sp>
      <p:sp>
        <p:nvSpPr>
          <p:cNvPr id="275" name="Shape 273"/>
          <p:cNvSpPr/>
          <p:nvPr/>
        </p:nvSpPr>
        <p:spPr>
          <a:xfrm>
            <a:off x="1691640" y="4590288"/>
            <a:ext cx="694944" cy="283464"/>
          </a:xfrm>
          <a:prstGeom prst="rect">
            <a:avLst/>
          </a:prstGeom>
          <a:solidFill>
            <a:srgbClr val="E6F4F4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1691640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7173"/>
                </a:solidFill>
              </a:rPr>
              <a:t>₹999</a:t>
            </a:r>
            <a:endParaRPr lang="en-US" sz="700" dirty="0"/>
          </a:p>
        </p:txBody>
      </p:sp>
      <p:sp>
        <p:nvSpPr>
          <p:cNvPr id="277" name="Shape 275"/>
          <p:cNvSpPr/>
          <p:nvPr/>
        </p:nvSpPr>
        <p:spPr>
          <a:xfrm>
            <a:off x="2404872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2404872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C3E50"/>
                </a:solidFill>
              </a:rPr>
              <a:t>₹12K+</a:t>
            </a:r>
            <a:endParaRPr lang="en-US" sz="700" dirty="0"/>
          </a:p>
        </p:txBody>
      </p:sp>
      <p:sp>
        <p:nvSpPr>
          <p:cNvPr id="279" name="Shape 277"/>
          <p:cNvSpPr/>
          <p:nvPr/>
        </p:nvSpPr>
        <p:spPr>
          <a:xfrm>
            <a:off x="3118104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3118104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C3E50"/>
                </a:solidFill>
              </a:rPr>
              <a:t>₹3K+</a:t>
            </a:r>
            <a:endParaRPr lang="en-US" sz="700" dirty="0"/>
          </a:p>
        </p:txBody>
      </p:sp>
      <p:sp>
        <p:nvSpPr>
          <p:cNvPr id="281" name="Shape 279"/>
          <p:cNvSpPr/>
          <p:nvPr/>
        </p:nvSpPr>
        <p:spPr>
          <a:xfrm>
            <a:off x="3831336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3831336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C3E50"/>
                </a:solidFill>
              </a:rPr>
              <a:t>₹800</a:t>
            </a:r>
            <a:endParaRPr lang="en-US" sz="700" dirty="0"/>
          </a:p>
        </p:txBody>
      </p:sp>
      <p:sp>
        <p:nvSpPr>
          <p:cNvPr id="283" name="Shape 281"/>
          <p:cNvSpPr/>
          <p:nvPr/>
        </p:nvSpPr>
        <p:spPr>
          <a:xfrm>
            <a:off x="4544568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4544568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C3E50"/>
                </a:solidFill>
              </a:rPr>
              <a:t>₹3K</a:t>
            </a:r>
            <a:endParaRPr lang="en-US" sz="700" dirty="0"/>
          </a:p>
        </p:txBody>
      </p:sp>
      <p:sp>
        <p:nvSpPr>
          <p:cNvPr id="285" name="Shape 283"/>
          <p:cNvSpPr/>
          <p:nvPr/>
        </p:nvSpPr>
        <p:spPr>
          <a:xfrm>
            <a:off x="5257800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5257800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C3E50"/>
                </a:solidFill>
              </a:rPr>
              <a:t>₹5K</a:t>
            </a:r>
            <a:endParaRPr lang="en-US" sz="700" dirty="0"/>
          </a:p>
        </p:txBody>
      </p:sp>
      <p:sp>
        <p:nvSpPr>
          <p:cNvPr id="287" name="Shape 285"/>
          <p:cNvSpPr/>
          <p:nvPr/>
        </p:nvSpPr>
        <p:spPr>
          <a:xfrm>
            <a:off x="5971032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5971032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C3E50"/>
                </a:solidFill>
              </a:rPr>
              <a:t>₹4K</a:t>
            </a:r>
            <a:endParaRPr lang="en-US" sz="700" dirty="0"/>
          </a:p>
        </p:txBody>
      </p:sp>
      <p:sp>
        <p:nvSpPr>
          <p:cNvPr id="289" name="Shape 287"/>
          <p:cNvSpPr/>
          <p:nvPr/>
        </p:nvSpPr>
        <p:spPr>
          <a:xfrm>
            <a:off x="6684264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6684264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C3E50"/>
                </a:solidFill>
              </a:rPr>
              <a:t>₹6K</a:t>
            </a:r>
            <a:endParaRPr lang="en-US" sz="700" dirty="0"/>
          </a:p>
        </p:txBody>
      </p:sp>
      <p:sp>
        <p:nvSpPr>
          <p:cNvPr id="291" name="Shape 289"/>
          <p:cNvSpPr/>
          <p:nvPr/>
        </p:nvSpPr>
        <p:spPr>
          <a:xfrm>
            <a:off x="7397496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7397496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C3E50"/>
                </a:solidFill>
              </a:rPr>
              <a:t>₹1.5K</a:t>
            </a:r>
            <a:endParaRPr lang="en-US" sz="700" dirty="0"/>
          </a:p>
        </p:txBody>
      </p:sp>
      <p:sp>
        <p:nvSpPr>
          <p:cNvPr id="293" name="Shape 291"/>
          <p:cNvSpPr/>
          <p:nvPr/>
        </p:nvSpPr>
        <p:spPr>
          <a:xfrm>
            <a:off x="8110728" y="4590288"/>
            <a:ext cx="694944" cy="283464"/>
          </a:xfrm>
          <a:prstGeom prst="rect">
            <a:avLst/>
          </a:prstGeom>
          <a:solidFill>
            <a:srgbClr val="F4F6FA"/>
          </a:solidFill>
          <a:ln w="6350">
            <a:solidFill>
              <a:srgbClr val="E8EDF5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8110728" y="4590288"/>
            <a:ext cx="6949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C3E50"/>
                </a:solidFill>
              </a:rPr>
              <a:t>₹850</a:t>
            </a:r>
            <a:endParaRPr lang="en-US" sz="700" dirty="0"/>
          </a:p>
        </p:txBody>
      </p:sp>
      <p:sp>
        <p:nvSpPr>
          <p:cNvPr id="295" name="Text 293"/>
          <p:cNvSpPr/>
          <p:nvPr/>
        </p:nvSpPr>
        <p:spPr>
          <a:xfrm>
            <a:off x="91440" y="4892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A8BA0"/>
                </a:solidFill>
              </a:rPr>
              <a:t>✓ = Full  ~ = Partial  ✗ = Missing</a:t>
            </a:r>
            <a:endParaRPr lang="en-US" sz="800" dirty="0"/>
          </a:p>
        </p:txBody>
      </p:sp>
      <p:sp>
        <p:nvSpPr>
          <p:cNvPr id="296" name="Text 294"/>
          <p:cNvSpPr/>
          <p:nvPr/>
        </p:nvSpPr>
        <p:spPr>
          <a:xfrm>
            <a:off x="4114800" y="4873752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7173"/>
                </a:solidFill>
              </a:rPr>
              <a:t>Vitrag CRM is the ONLY CRM with WhatsApp-native + India portal integration + RERA fields built in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Modern, scalable, India-ready 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1280160" cy="65836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" y="91440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914400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7632" y="9144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React.js + React Native (iOS/Android)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97680" cy="658368"/>
          </a:xfrm>
          <a:prstGeom prst="rect">
            <a:avLst/>
          </a:prstGeom>
          <a:solidFill>
            <a:srgbClr val="E8EB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005840"/>
            <a:ext cx="137160" cy="1371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919472" y="9784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Next.js Web App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188720"/>
            <a:ext cx="137160" cy="1371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919472" y="11612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React Native Mobile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371600"/>
            <a:ext cx="137160" cy="1371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19472" y="1344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PWA Offline Support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40080" y="1572768"/>
            <a:ext cx="365760" cy="1371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82880" y="1709928"/>
            <a:ext cx="128016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182880" y="17099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 API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1554480" y="1709928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627632" y="17099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Node.js + Python (AI/ML services)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63440" y="1709928"/>
            <a:ext cx="4297680" cy="658368"/>
          </a:xfrm>
          <a:prstGeom prst="rect">
            <a:avLst/>
          </a:prstGeom>
          <a:solidFill>
            <a:srgbClr val="E8EB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801368"/>
            <a:ext cx="137160" cy="1371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919472" y="17739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REST + GraphQL APIs</a:t>
            </a:r>
            <a:endParaRPr lang="en-US" sz="9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984248"/>
            <a:ext cx="137160" cy="1371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919472" y="1956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Webhook Engine</a:t>
            </a:r>
            <a:endParaRPr lang="en-US" sz="9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167128"/>
            <a:ext cx="137160" cy="1371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919472" y="21396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n8n Automation Layer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640080" y="2368296"/>
            <a:ext cx="365760" cy="1371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182880" y="2505456"/>
            <a:ext cx="1280160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182880" y="250545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1554480" y="250545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1627632" y="250545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PostgreSQL (primary) + Redis (cache)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4663440" y="2505456"/>
            <a:ext cx="4297680" cy="658368"/>
          </a:xfrm>
          <a:prstGeom prst="rect">
            <a:avLst/>
          </a:prstGeom>
          <a:solidFill>
            <a:srgbClr val="E8EB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596896"/>
            <a:ext cx="137160" cy="13716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919472" y="25694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9-table schema</a:t>
            </a:r>
            <a:endParaRPr lang="en-US" sz="9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779776"/>
            <a:ext cx="137160" cy="13716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4919472" y="27523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Real-time sync</a:t>
            </a:r>
            <a:endParaRPr lang="en-US" sz="9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962656"/>
            <a:ext cx="137160" cy="13716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919472" y="29352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Multi-tenant isolation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640080" y="3163824"/>
            <a:ext cx="365760" cy="1371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182880" y="3300984"/>
            <a:ext cx="1280160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35"/>
          <p:cNvSpPr/>
          <p:nvPr/>
        </p:nvSpPr>
        <p:spPr>
          <a:xfrm>
            <a:off x="182880" y="330098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Layer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1554480" y="3300984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1627632" y="330098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OpenAI GPT-4 + Custom ML Models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4663440" y="3300984"/>
            <a:ext cx="4297680" cy="658368"/>
          </a:xfrm>
          <a:prstGeom prst="rect">
            <a:avLst/>
          </a:prstGeom>
          <a:solidFill>
            <a:srgbClr val="E8EB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3392424"/>
            <a:ext cx="137160" cy="13716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4919472" y="33649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Lead scoring model</a:t>
            </a:r>
            <a:endParaRPr lang="en-US" sz="900" dirty="0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3575304"/>
            <a:ext cx="137160" cy="137160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4919472" y="3547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Draft generator</a:t>
            </a:r>
            <a:endParaRPr lang="en-US" sz="9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3758184"/>
            <a:ext cx="137160" cy="137160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4919472" y="37307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Churn predictor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640080" y="3959352"/>
            <a:ext cx="365760" cy="13716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7" name="Shape 43"/>
          <p:cNvSpPr/>
          <p:nvPr/>
        </p:nvSpPr>
        <p:spPr>
          <a:xfrm>
            <a:off x="182880" y="4096512"/>
            <a:ext cx="1280160" cy="6583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44"/>
          <p:cNvSpPr/>
          <p:nvPr/>
        </p:nvSpPr>
        <p:spPr>
          <a:xfrm>
            <a:off x="182880" y="409651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Integrations</a:t>
            </a:r>
            <a:endParaRPr lang="en-US" sz="1000" dirty="0"/>
          </a:p>
        </p:txBody>
      </p:sp>
      <p:sp>
        <p:nvSpPr>
          <p:cNvPr id="59" name="Shape 45"/>
          <p:cNvSpPr/>
          <p:nvPr/>
        </p:nvSpPr>
        <p:spPr>
          <a:xfrm>
            <a:off x="1554480" y="4096512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60" name="Text 46"/>
          <p:cNvSpPr/>
          <p:nvPr/>
        </p:nvSpPr>
        <p:spPr>
          <a:xfrm>
            <a:off x="1627632" y="40965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WhatsApp (WATI/BSP), Portals, GSuite</a:t>
            </a:r>
            <a:endParaRPr lang="en-US" sz="1000" dirty="0"/>
          </a:p>
        </p:txBody>
      </p:sp>
      <p:sp>
        <p:nvSpPr>
          <p:cNvPr id="61" name="Shape 47"/>
          <p:cNvSpPr/>
          <p:nvPr/>
        </p:nvSpPr>
        <p:spPr>
          <a:xfrm>
            <a:off x="4663440" y="4096512"/>
            <a:ext cx="4297680" cy="658368"/>
          </a:xfrm>
          <a:prstGeom prst="rect">
            <a:avLst/>
          </a:prstGeom>
          <a:solidFill>
            <a:srgbClr val="E8EB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62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4187952"/>
            <a:ext cx="137160" cy="137160"/>
          </a:xfrm>
          <a:prstGeom prst="rect">
            <a:avLst/>
          </a:prstGeom>
        </p:spPr>
      </p:pic>
      <p:sp>
        <p:nvSpPr>
          <p:cNvPr id="63" name="Text 48"/>
          <p:cNvSpPr/>
          <p:nvPr/>
        </p:nvSpPr>
        <p:spPr>
          <a:xfrm>
            <a:off x="4919472" y="4160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99acres webhook</a:t>
            </a:r>
            <a:endParaRPr lang="en-US" sz="900" dirty="0"/>
          </a:p>
        </p:txBody>
      </p:sp>
      <p:pic>
        <p:nvPicPr>
          <p:cNvPr id="64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4370832"/>
            <a:ext cx="137160" cy="137160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4919472" y="43434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MagicBricks API</a:t>
            </a:r>
            <a:endParaRPr lang="en-US" sz="900" dirty="0"/>
          </a:p>
        </p:txBody>
      </p:sp>
      <p:pic>
        <p:nvPicPr>
          <p:cNvPr id="66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4553712"/>
            <a:ext cx="137160" cy="137160"/>
          </a:xfrm>
          <a:prstGeom prst="rect">
            <a:avLst/>
          </a:prstGeom>
        </p:spPr>
      </p:pic>
      <p:sp>
        <p:nvSpPr>
          <p:cNvPr id="67" name="Text 50"/>
          <p:cNvSpPr/>
          <p:nvPr/>
        </p:nvSpPr>
        <p:spPr>
          <a:xfrm>
            <a:off x="4919472" y="45262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Gmail / Google Calendar</a:t>
            </a:r>
            <a:endParaRPr lang="en-US" sz="900" dirty="0"/>
          </a:p>
        </p:txBody>
      </p:sp>
      <p:sp>
        <p:nvSpPr>
          <p:cNvPr id="68" name="Shape 51"/>
          <p:cNvSpPr/>
          <p:nvPr/>
        </p:nvSpPr>
        <p:spPr>
          <a:xfrm>
            <a:off x="0" y="4572000"/>
            <a:ext cx="9144000" cy="4389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9" name="Text 52"/>
          <p:cNvSpPr/>
          <p:nvPr/>
        </p:nvSpPr>
        <p:spPr>
          <a:xfrm>
            <a:off x="182880" y="4572000"/>
            <a:ext cx="8778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Deployment:  ☁  Managed Cloud (Vercel + Supabase + n8n Cloud)   |   🖥  Self-Hosted (VPS + Docker + Postgres)   |   Both paths supported from Day 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Integrations Ecosystem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Vitrag CRM connects everything a realtor already uses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886968"/>
            <a:ext cx="201168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8869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Lead Portals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8600" y="1344168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435608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1408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99acres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783080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1755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MagicBricks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2130552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Housing.com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247802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8640" y="2450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NoBroker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2825496"/>
            <a:ext cx="146304" cy="14630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48640" y="27980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Square Yards</a:t>
            </a:r>
            <a:endParaRPr lang="en-US" sz="9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3172968"/>
            <a:ext cx="146304" cy="14630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48640" y="31455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PropTiger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2423160" y="886968"/>
            <a:ext cx="2011680" cy="4572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960120"/>
            <a:ext cx="256032" cy="25603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2834640" y="8869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Communication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2423160" y="1344168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1435608"/>
            <a:ext cx="146304" cy="14630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2743200" y="1408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WATI / Interakt BSP</a:t>
            </a:r>
            <a:endParaRPr lang="en-US" sz="9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1783080"/>
            <a:ext cx="146304" cy="146304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2743200" y="1755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Twilio SMS</a:t>
            </a:r>
            <a:endParaRPr lang="en-US" sz="95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2130552"/>
            <a:ext cx="146304" cy="146304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2743200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Gmail / Outlook</a:t>
            </a:r>
            <a:endParaRPr lang="en-US" sz="95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2478024"/>
            <a:ext cx="146304" cy="146304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2743200" y="2450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Exotel (Call)</a:t>
            </a:r>
            <a:endParaRPr lang="en-US" sz="95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2825496"/>
            <a:ext cx="146304" cy="146304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2743200" y="27980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WhatsApp Cloud API</a:t>
            </a:r>
            <a:endParaRPr lang="en-US" sz="950" dirty="0"/>
          </a:p>
        </p:txBody>
      </p:sp>
      <p:sp>
        <p:nvSpPr>
          <p:cNvPr id="39" name="Shape 24"/>
          <p:cNvSpPr/>
          <p:nvPr/>
        </p:nvSpPr>
        <p:spPr>
          <a:xfrm>
            <a:off x="4617720" y="886968"/>
            <a:ext cx="2011680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960120"/>
            <a:ext cx="256032" cy="256032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5029200" y="8869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Productivity</a:t>
            </a:r>
            <a:endParaRPr lang="en-US" sz="1100" dirty="0"/>
          </a:p>
        </p:txBody>
      </p:sp>
      <p:sp>
        <p:nvSpPr>
          <p:cNvPr id="42" name="Shape 26"/>
          <p:cNvSpPr/>
          <p:nvPr/>
        </p:nvSpPr>
        <p:spPr>
          <a:xfrm>
            <a:off x="4617720" y="1344168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435608"/>
            <a:ext cx="146304" cy="146304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4937760" y="1408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Google Calendar</a:t>
            </a:r>
            <a:endParaRPr lang="en-US" sz="950" dirty="0"/>
          </a:p>
        </p:txBody>
      </p:sp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1783080"/>
            <a:ext cx="146304" cy="146304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4937760" y="1755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Google Drive</a:t>
            </a:r>
            <a:endParaRPr lang="en-US" sz="950" dirty="0"/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130552"/>
            <a:ext cx="146304" cy="146304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4937760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Google Sheets</a:t>
            </a:r>
            <a:endParaRPr lang="en-US" sz="950" dirty="0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478024"/>
            <a:ext cx="146304" cy="146304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4937760" y="2450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Slack / Teams</a:t>
            </a:r>
            <a:endParaRPr lang="en-US" sz="950" dirty="0"/>
          </a:p>
        </p:txBody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825496"/>
            <a:ext cx="146304" cy="146304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4937760" y="27980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Zapier / n8n</a:t>
            </a:r>
            <a:endParaRPr lang="en-US" sz="950" dirty="0"/>
          </a:p>
        </p:txBody>
      </p:sp>
      <p:sp>
        <p:nvSpPr>
          <p:cNvPr id="53" name="Shape 32"/>
          <p:cNvSpPr/>
          <p:nvPr/>
        </p:nvSpPr>
        <p:spPr>
          <a:xfrm>
            <a:off x="6812280" y="886968"/>
            <a:ext cx="201168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54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960120"/>
            <a:ext cx="256032" cy="256032"/>
          </a:xfrm>
          <a:prstGeom prst="rect">
            <a:avLst/>
          </a:prstGeom>
        </p:spPr>
      </p:pic>
      <p:sp>
        <p:nvSpPr>
          <p:cNvPr id="55" name="Text 33"/>
          <p:cNvSpPr/>
          <p:nvPr/>
        </p:nvSpPr>
        <p:spPr>
          <a:xfrm>
            <a:off x="7223760" y="88696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Payments &amp; Finance</a:t>
            </a:r>
            <a:endParaRPr lang="en-US" sz="1100" dirty="0"/>
          </a:p>
        </p:txBody>
      </p:sp>
      <p:sp>
        <p:nvSpPr>
          <p:cNvPr id="56" name="Shape 34"/>
          <p:cNvSpPr/>
          <p:nvPr/>
        </p:nvSpPr>
        <p:spPr>
          <a:xfrm>
            <a:off x="6812280" y="1344168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7" name="Image 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435608"/>
            <a:ext cx="146304" cy="146304"/>
          </a:xfrm>
          <a:prstGeom prst="rect">
            <a:avLst/>
          </a:prstGeom>
        </p:spPr>
      </p:pic>
      <p:sp>
        <p:nvSpPr>
          <p:cNvPr id="58" name="Text 35"/>
          <p:cNvSpPr/>
          <p:nvPr/>
        </p:nvSpPr>
        <p:spPr>
          <a:xfrm>
            <a:off x="7132320" y="14081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Razorpay (invoicing)</a:t>
            </a:r>
            <a:endParaRPr lang="en-US" sz="950" dirty="0"/>
          </a:p>
        </p:txBody>
      </p:sp>
      <p:pic>
        <p:nvPicPr>
          <p:cNvPr id="59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783080"/>
            <a:ext cx="146304" cy="146304"/>
          </a:xfrm>
          <a:prstGeom prst="rect">
            <a:avLst/>
          </a:prstGeom>
        </p:spPr>
      </p:pic>
      <p:sp>
        <p:nvSpPr>
          <p:cNvPr id="60" name="Text 36"/>
          <p:cNvSpPr/>
          <p:nvPr/>
        </p:nvSpPr>
        <p:spPr>
          <a:xfrm>
            <a:off x="7132320" y="17556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Zoho Books</a:t>
            </a:r>
            <a:endParaRPr lang="en-US" sz="950" dirty="0"/>
          </a:p>
        </p:txBody>
      </p:sp>
      <p:pic>
        <p:nvPicPr>
          <p:cNvPr id="61" name="Image 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2130552"/>
            <a:ext cx="146304" cy="146304"/>
          </a:xfrm>
          <a:prstGeom prst="rect">
            <a:avLst/>
          </a:prstGeom>
        </p:spPr>
      </p:pic>
      <p:sp>
        <p:nvSpPr>
          <p:cNvPr id="62" name="Text 37"/>
          <p:cNvSpPr/>
          <p:nvPr/>
        </p:nvSpPr>
        <p:spPr>
          <a:xfrm>
            <a:off x="7132320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Tally export</a:t>
            </a:r>
            <a:endParaRPr lang="en-US" sz="950" dirty="0"/>
          </a:p>
        </p:txBody>
      </p:sp>
      <p:pic>
        <p:nvPicPr>
          <p:cNvPr id="63" name="Image 2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2478024"/>
            <a:ext cx="146304" cy="146304"/>
          </a:xfrm>
          <a:prstGeom prst="rect">
            <a:avLst/>
          </a:prstGeom>
        </p:spPr>
      </p:pic>
      <p:sp>
        <p:nvSpPr>
          <p:cNvPr id="64" name="Text 38"/>
          <p:cNvSpPr/>
          <p:nvPr/>
        </p:nvSpPr>
        <p:spPr>
          <a:xfrm>
            <a:off x="7132320" y="24505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UPI QR generation</a:t>
            </a:r>
            <a:endParaRPr lang="en-US" sz="950" dirty="0"/>
          </a:p>
        </p:txBody>
      </p:sp>
      <p:pic>
        <p:nvPicPr>
          <p:cNvPr id="65" name="Image 2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2825496"/>
            <a:ext cx="146304" cy="146304"/>
          </a:xfrm>
          <a:prstGeom prst="rect">
            <a:avLst/>
          </a:prstGeom>
        </p:spPr>
      </p:pic>
      <p:sp>
        <p:nvSpPr>
          <p:cNvPr id="66" name="Text 39"/>
          <p:cNvSpPr/>
          <p:nvPr/>
        </p:nvSpPr>
        <p:spPr>
          <a:xfrm>
            <a:off x="7132320" y="27980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</a:rPr>
              <a:t>GST-ready receipts</a:t>
            </a:r>
            <a:endParaRPr lang="en-US" sz="950" dirty="0"/>
          </a:p>
        </p:txBody>
      </p:sp>
      <p:sp>
        <p:nvSpPr>
          <p:cNvPr id="67" name="Shape 40"/>
          <p:cNvSpPr/>
          <p:nvPr/>
        </p:nvSpPr>
        <p:spPr>
          <a:xfrm>
            <a:off x="228600" y="3657600"/>
            <a:ext cx="868680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Text 41"/>
          <p:cNvSpPr/>
          <p:nvPr/>
        </p:nvSpPr>
        <p:spPr>
          <a:xfrm>
            <a:off x="365760" y="3703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</a:rPr>
              <a:t>Open API + Webhook Framework</a:t>
            </a:r>
            <a:endParaRPr lang="en-US" sz="1300" dirty="0"/>
          </a:p>
        </p:txBody>
      </p:sp>
      <p:pic>
        <p:nvPicPr>
          <p:cNvPr id="69" name="Image 2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4114800"/>
            <a:ext cx="164592" cy="164592"/>
          </a:xfrm>
          <a:prstGeom prst="rect">
            <a:avLst/>
          </a:prstGeom>
        </p:spPr>
      </p:pic>
      <p:sp>
        <p:nvSpPr>
          <p:cNvPr id="70" name="Text 42"/>
          <p:cNvSpPr/>
          <p:nvPr/>
        </p:nvSpPr>
        <p:spPr>
          <a:xfrm>
            <a:off x="548640" y="4087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19 REST API endpoints for custom integrations</a:t>
            </a:r>
            <a:endParaRPr lang="en-US" sz="950" dirty="0"/>
          </a:p>
        </p:txBody>
      </p:sp>
      <p:pic>
        <p:nvPicPr>
          <p:cNvPr id="71" name="Image 2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4434840"/>
            <a:ext cx="164592" cy="164592"/>
          </a:xfrm>
          <a:prstGeom prst="rect">
            <a:avLst/>
          </a:prstGeom>
        </p:spPr>
      </p:pic>
      <p:sp>
        <p:nvSpPr>
          <p:cNvPr id="72" name="Text 43"/>
          <p:cNvSpPr/>
          <p:nvPr/>
        </p:nvSpPr>
        <p:spPr>
          <a:xfrm>
            <a:off x="548640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Inbound webhook for any lead source</a:t>
            </a:r>
            <a:endParaRPr lang="en-US" sz="950" dirty="0"/>
          </a:p>
        </p:txBody>
      </p:sp>
      <p:pic>
        <p:nvPicPr>
          <p:cNvPr id="73" name="Image 2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4114800"/>
            <a:ext cx="164592" cy="164592"/>
          </a:xfrm>
          <a:prstGeom prst="rect">
            <a:avLst/>
          </a:prstGeom>
        </p:spPr>
      </p:pic>
      <p:sp>
        <p:nvSpPr>
          <p:cNvPr id="74" name="Text 44"/>
          <p:cNvSpPr/>
          <p:nvPr/>
        </p:nvSpPr>
        <p:spPr>
          <a:xfrm>
            <a:off x="4846320" y="4087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JWT authentication + role-based API access</a:t>
            </a:r>
            <a:endParaRPr lang="en-US" sz="950" dirty="0"/>
          </a:p>
        </p:txBody>
      </p:sp>
      <p:pic>
        <p:nvPicPr>
          <p:cNvPr id="75" name="Image 2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4434840"/>
            <a:ext cx="164592" cy="164592"/>
          </a:xfrm>
          <a:prstGeom prst="rect">
            <a:avLst/>
          </a:prstGeom>
        </p:spPr>
      </p:pic>
      <p:sp>
        <p:nvSpPr>
          <p:cNvPr id="76" name="Text 45"/>
          <p:cNvSpPr/>
          <p:nvPr/>
        </p:nvSpPr>
        <p:spPr>
          <a:xfrm>
            <a:off x="4846320" y="44074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Developer documentation + Postman collection on launch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Go-to-Market &amp; Pricing Strategy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Accessible pricing designed for the Indian 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48640" y="841248"/>
            <a:ext cx="2514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841248"/>
            <a:ext cx="251460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8869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Solo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1234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843"/>
                </a:solidFill>
              </a:rPr>
              <a:t>₹999/mo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BA0"/>
                </a:solidFill>
              </a:rPr>
              <a:t>For independent agents</a:t>
            </a:r>
            <a:endParaRPr lang="en-US" sz="9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423160"/>
            <a:ext cx="146304" cy="14630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68680" y="2404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1 user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88336"/>
            <a:ext cx="146304" cy="1463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68680" y="2670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Up to 500 leads/mo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" y="2935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WhatsApp integration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18688"/>
            <a:ext cx="146304" cy="1463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3200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Basic pipeline</a:t>
            </a:r>
            <a:endParaRPr lang="en-US" sz="9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83864"/>
            <a:ext cx="146304" cy="1463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Standard reports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749040"/>
            <a:ext cx="146304" cy="1463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6868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Email + SMS campaigns</a:t>
            </a:r>
            <a:endParaRPr lang="en-US" sz="9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014216"/>
            <a:ext cx="146304" cy="14630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68680" y="3995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Mobile app</a:t>
            </a:r>
            <a:endParaRPr lang="en-US" sz="9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79392"/>
            <a:ext cx="146304" cy="14630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868680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Email support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731520" y="4251960"/>
            <a:ext cx="214884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731520" y="4251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Free Trial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3291840" y="841248"/>
            <a:ext cx="2514600" cy="3840480"/>
          </a:xfrm>
          <a:prstGeom prst="rect">
            <a:avLst/>
          </a:prstGeom>
          <a:solidFill>
            <a:srgbClr val="0F7173"/>
          </a:solidFill>
          <a:ln w="254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3291840" y="841248"/>
            <a:ext cx="2514600" cy="11887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3291840" y="8869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</a:t>
            </a:r>
            <a:endParaRPr lang="en-US" sz="1800" dirty="0"/>
          </a:p>
        </p:txBody>
      </p:sp>
      <p:sp>
        <p:nvSpPr>
          <p:cNvPr id="35" name="Text 25"/>
          <p:cNvSpPr/>
          <p:nvPr/>
        </p:nvSpPr>
        <p:spPr>
          <a:xfrm>
            <a:off x="3291840" y="1234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₹2,499/mo</a:t>
            </a:r>
            <a:endParaRPr lang="en-US" sz="2000" dirty="0"/>
          </a:p>
        </p:txBody>
      </p:sp>
      <p:sp>
        <p:nvSpPr>
          <p:cNvPr id="36" name="Text 26"/>
          <p:cNvSpPr/>
          <p:nvPr/>
        </p:nvSpPr>
        <p:spPr>
          <a:xfrm>
            <a:off x="329184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For growing brokerages</a:t>
            </a:r>
            <a:endParaRPr lang="en-US" sz="9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423160"/>
            <a:ext cx="146304" cy="14630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3611880" y="2404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Up to 5 users</a:t>
            </a:r>
            <a:endParaRPr lang="en-US" sz="9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688336"/>
            <a:ext cx="146304" cy="14630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3611880" y="2670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Unlimited leads</a:t>
            </a:r>
            <a:endParaRPr lang="en-US" sz="9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953512"/>
            <a:ext cx="146304" cy="146304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3611880" y="2935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AI lead scoring</a:t>
            </a:r>
            <a:endParaRPr lang="en-US" sz="900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3218688"/>
            <a:ext cx="146304" cy="146304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3611880" y="3200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All integrations</a:t>
            </a:r>
            <a:endParaRPr lang="en-US" sz="900" dirty="0"/>
          </a:p>
        </p:txBody>
      </p:sp>
      <p:pic>
        <p:nvPicPr>
          <p:cNvPr id="45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3483864"/>
            <a:ext cx="146304" cy="146304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3611880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Full analytics suite</a:t>
            </a:r>
            <a:endParaRPr lang="en-US" sz="900" dirty="0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3749040"/>
            <a:ext cx="146304" cy="146304"/>
          </a:xfrm>
          <a:prstGeom prst="rect">
            <a:avLst/>
          </a:prstGeom>
        </p:spPr>
      </p:pic>
      <p:sp>
        <p:nvSpPr>
          <p:cNvPr id="48" name="Text 32"/>
          <p:cNvSpPr/>
          <p:nvPr/>
        </p:nvSpPr>
        <p:spPr>
          <a:xfrm>
            <a:off x="361188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Workflow automation</a:t>
            </a:r>
            <a:endParaRPr lang="en-US" sz="900" dirty="0"/>
          </a:p>
        </p:txBody>
      </p:sp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4014216"/>
            <a:ext cx="146304" cy="146304"/>
          </a:xfrm>
          <a:prstGeom prst="rect">
            <a:avLst/>
          </a:prstGeom>
        </p:spPr>
      </p:pic>
      <p:sp>
        <p:nvSpPr>
          <p:cNvPr id="50" name="Text 33"/>
          <p:cNvSpPr/>
          <p:nvPr/>
        </p:nvSpPr>
        <p:spPr>
          <a:xfrm>
            <a:off x="3611880" y="3995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Commission calculator</a:t>
            </a:r>
            <a:endParaRPr lang="en-US" sz="900" dirty="0"/>
          </a:p>
        </p:txBody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4279392"/>
            <a:ext cx="146304" cy="146304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3611880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Priority support</a:t>
            </a:r>
            <a:endParaRPr lang="en-US" sz="900" dirty="0"/>
          </a:p>
        </p:txBody>
      </p:sp>
      <p:sp>
        <p:nvSpPr>
          <p:cNvPr id="53" name="Shape 35"/>
          <p:cNvSpPr/>
          <p:nvPr/>
        </p:nvSpPr>
        <p:spPr>
          <a:xfrm>
            <a:off x="3474720" y="4251960"/>
            <a:ext cx="214884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54" name="Text 36"/>
          <p:cNvSpPr/>
          <p:nvPr/>
        </p:nvSpPr>
        <p:spPr>
          <a:xfrm>
            <a:off x="3474720" y="4251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Most Popular</a:t>
            </a:r>
            <a:endParaRPr lang="en-US" sz="1000" dirty="0"/>
          </a:p>
        </p:txBody>
      </p:sp>
      <p:sp>
        <p:nvSpPr>
          <p:cNvPr id="55" name="Shape 37"/>
          <p:cNvSpPr/>
          <p:nvPr/>
        </p:nvSpPr>
        <p:spPr>
          <a:xfrm>
            <a:off x="6035040" y="841248"/>
            <a:ext cx="2514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38"/>
          <p:cNvSpPr/>
          <p:nvPr/>
        </p:nvSpPr>
        <p:spPr>
          <a:xfrm>
            <a:off x="6035040" y="841248"/>
            <a:ext cx="2514600" cy="11887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7" name="Text 39"/>
          <p:cNvSpPr/>
          <p:nvPr/>
        </p:nvSpPr>
        <p:spPr>
          <a:xfrm>
            <a:off x="6035040" y="8869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Team</a:t>
            </a:r>
            <a:endParaRPr lang="en-US" sz="1800" dirty="0"/>
          </a:p>
        </p:txBody>
      </p:sp>
      <p:sp>
        <p:nvSpPr>
          <p:cNvPr id="58" name="Text 40"/>
          <p:cNvSpPr/>
          <p:nvPr/>
        </p:nvSpPr>
        <p:spPr>
          <a:xfrm>
            <a:off x="6035040" y="12344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843"/>
                </a:solidFill>
              </a:rPr>
              <a:t>₹5,999/mo</a:t>
            </a:r>
            <a:endParaRPr lang="en-US" sz="2000" dirty="0"/>
          </a:p>
        </p:txBody>
      </p:sp>
      <p:sp>
        <p:nvSpPr>
          <p:cNvPr id="59" name="Text 41"/>
          <p:cNvSpPr/>
          <p:nvPr/>
        </p:nvSpPr>
        <p:spPr>
          <a:xfrm>
            <a:off x="6035040" y="20848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8BA0"/>
                </a:solidFill>
              </a:rPr>
              <a:t>For large teams &amp; developers</a:t>
            </a:r>
            <a:endParaRPr lang="en-US" sz="900" dirty="0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423160"/>
            <a:ext cx="146304" cy="146304"/>
          </a:xfrm>
          <a:prstGeom prst="rect">
            <a:avLst/>
          </a:prstGeom>
        </p:spPr>
      </p:pic>
      <p:sp>
        <p:nvSpPr>
          <p:cNvPr id="61" name="Text 42"/>
          <p:cNvSpPr/>
          <p:nvPr/>
        </p:nvSpPr>
        <p:spPr>
          <a:xfrm>
            <a:off x="6355080" y="2404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Up to 25 users</a:t>
            </a:r>
            <a:endParaRPr lang="en-US" sz="900" dirty="0"/>
          </a:p>
        </p:txBody>
      </p:sp>
      <p:pic>
        <p:nvPicPr>
          <p:cNvPr id="62" name="Image 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688336"/>
            <a:ext cx="146304" cy="146304"/>
          </a:xfrm>
          <a:prstGeom prst="rect">
            <a:avLst/>
          </a:prstGeom>
        </p:spPr>
      </p:pic>
      <p:sp>
        <p:nvSpPr>
          <p:cNvPr id="63" name="Text 43"/>
          <p:cNvSpPr/>
          <p:nvPr/>
        </p:nvSpPr>
        <p:spPr>
          <a:xfrm>
            <a:off x="6355080" y="2670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Everything in Pro</a:t>
            </a:r>
            <a:endParaRPr lang="en-US" sz="900" dirty="0"/>
          </a:p>
        </p:txBody>
      </p:sp>
      <p:pic>
        <p:nvPicPr>
          <p:cNvPr id="64" name="Image 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953512"/>
            <a:ext cx="146304" cy="146304"/>
          </a:xfrm>
          <a:prstGeom prst="rect">
            <a:avLst/>
          </a:prstGeom>
        </p:spPr>
      </p:pic>
      <p:sp>
        <p:nvSpPr>
          <p:cNvPr id="65" name="Text 44"/>
          <p:cNvSpPr/>
          <p:nvPr/>
        </p:nvSpPr>
        <p:spPr>
          <a:xfrm>
            <a:off x="6355080" y="2935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Custom AI workflows</a:t>
            </a:r>
            <a:endParaRPr lang="en-US" sz="900" dirty="0"/>
          </a:p>
        </p:txBody>
      </p:sp>
      <p:pic>
        <p:nvPicPr>
          <p:cNvPr id="66" name="Image 1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218688"/>
            <a:ext cx="146304" cy="146304"/>
          </a:xfrm>
          <a:prstGeom prst="rect">
            <a:avLst/>
          </a:prstGeom>
        </p:spPr>
      </p:pic>
      <p:sp>
        <p:nvSpPr>
          <p:cNvPr id="67" name="Text 45"/>
          <p:cNvSpPr/>
          <p:nvPr/>
        </p:nvSpPr>
        <p:spPr>
          <a:xfrm>
            <a:off x="6355080" y="32004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API access</a:t>
            </a:r>
            <a:endParaRPr lang="en-US" sz="900" dirty="0"/>
          </a:p>
        </p:txBody>
      </p:sp>
      <p:pic>
        <p:nvPicPr>
          <p:cNvPr id="68" name="Image 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483864"/>
            <a:ext cx="146304" cy="146304"/>
          </a:xfrm>
          <a:prstGeom prst="rect">
            <a:avLst/>
          </a:prstGeom>
        </p:spPr>
      </p:pic>
      <p:sp>
        <p:nvSpPr>
          <p:cNvPr id="69" name="Text 46"/>
          <p:cNvSpPr/>
          <p:nvPr/>
        </p:nvSpPr>
        <p:spPr>
          <a:xfrm>
            <a:off x="6355080" y="34655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White-label option</a:t>
            </a:r>
            <a:endParaRPr lang="en-US" sz="900" dirty="0"/>
          </a:p>
        </p:txBody>
      </p:sp>
      <p:pic>
        <p:nvPicPr>
          <p:cNvPr id="70" name="Image 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749040"/>
            <a:ext cx="146304" cy="146304"/>
          </a:xfrm>
          <a:prstGeom prst="rect">
            <a:avLst/>
          </a:prstGeom>
        </p:spPr>
      </p:pic>
      <p:sp>
        <p:nvSpPr>
          <p:cNvPr id="71" name="Text 47"/>
          <p:cNvSpPr/>
          <p:nvPr/>
        </p:nvSpPr>
        <p:spPr>
          <a:xfrm>
            <a:off x="635508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Dedicated onboarding</a:t>
            </a:r>
            <a:endParaRPr lang="en-US" sz="900" dirty="0"/>
          </a:p>
        </p:txBody>
      </p:sp>
      <p:pic>
        <p:nvPicPr>
          <p:cNvPr id="72" name="Image 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4014216"/>
            <a:ext cx="146304" cy="146304"/>
          </a:xfrm>
          <a:prstGeom prst="rect">
            <a:avLst/>
          </a:prstGeom>
        </p:spPr>
      </p:pic>
      <p:sp>
        <p:nvSpPr>
          <p:cNvPr id="73" name="Text 48"/>
          <p:cNvSpPr/>
          <p:nvPr/>
        </p:nvSpPr>
        <p:spPr>
          <a:xfrm>
            <a:off x="6355080" y="3995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Training sessions</a:t>
            </a:r>
            <a:endParaRPr lang="en-US" sz="900" dirty="0"/>
          </a:p>
        </p:txBody>
      </p:sp>
      <p:pic>
        <p:nvPicPr>
          <p:cNvPr id="74" name="Image 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4279392"/>
            <a:ext cx="146304" cy="146304"/>
          </a:xfrm>
          <a:prstGeom prst="rect">
            <a:avLst/>
          </a:prstGeom>
        </p:spPr>
      </p:pic>
      <p:sp>
        <p:nvSpPr>
          <p:cNvPr id="75" name="Text 49"/>
          <p:cNvSpPr/>
          <p:nvPr/>
        </p:nvSpPr>
        <p:spPr>
          <a:xfrm>
            <a:off x="6355080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SLA-backed support</a:t>
            </a:r>
            <a:endParaRPr lang="en-US" sz="900" dirty="0"/>
          </a:p>
        </p:txBody>
      </p:sp>
      <p:sp>
        <p:nvSpPr>
          <p:cNvPr id="76" name="Shape 50"/>
          <p:cNvSpPr/>
          <p:nvPr/>
        </p:nvSpPr>
        <p:spPr>
          <a:xfrm>
            <a:off x="6217920" y="4251960"/>
            <a:ext cx="2148840" cy="3200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7" name="Text 51"/>
          <p:cNvSpPr/>
          <p:nvPr/>
        </p:nvSpPr>
        <p:spPr>
          <a:xfrm>
            <a:off x="6217920" y="4251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Contact Sales</a:t>
            </a:r>
            <a:endParaRPr lang="en-US" sz="1000" dirty="0"/>
          </a:p>
        </p:txBody>
      </p:sp>
      <p:sp>
        <p:nvSpPr>
          <p:cNvPr id="78" name="Shape 52"/>
          <p:cNvSpPr/>
          <p:nvPr/>
        </p:nvSpPr>
        <p:spPr>
          <a:xfrm>
            <a:off x="0" y="4681728"/>
            <a:ext cx="914400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9" name="Text 53"/>
          <p:cNvSpPr/>
          <p:nvPr/>
        </p:nvSpPr>
        <p:spPr>
          <a:xfrm>
            <a:off x="182880" y="4681728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4A843"/>
                </a:solidFill>
              </a:rPr>
              <a:t>Annual plans: 20% discount  ·  All plans include 14-day free trial  ·  No credit card required to start  ·  Cancel anytime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Product Roadmap — 6 Phases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From MVP to market-leading platform in 24 months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914400"/>
            <a:ext cx="2834640" cy="5029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1152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Core CRM Foundation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932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</a:rPr>
              <a:t>0–3 months</a:t>
            </a:r>
            <a:endParaRPr lang="en-US" sz="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508760"/>
            <a:ext cx="146304" cy="14630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PostgreSQL schema (9 tables)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801368"/>
            <a:ext cx="146304" cy="1463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2920" y="1773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Lead ingestion + deduplication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93976"/>
            <a:ext cx="146304" cy="1463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2920" y="20665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Basic pipeline &amp; contact mgmt</a:t>
            </a:r>
            <a:endParaRPr lang="en-US" sz="9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386584"/>
            <a:ext cx="146304" cy="1463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2920" y="2359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WhatsApp WATI integration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154680" y="9144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154680" y="914400"/>
            <a:ext cx="283464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154680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3200400" y="1152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Automation &amp; Communication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800600" y="932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</a:rPr>
              <a:t>3–6 months</a:t>
            </a:r>
            <a:endParaRPr lang="en-US" sz="8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508760"/>
            <a:ext cx="146304" cy="1463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7472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n8n workflow engine</a:t>
            </a:r>
            <a:endParaRPr lang="en-US" sz="9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1801368"/>
            <a:ext cx="146304" cy="14630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474720" y="1773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Email/SMS campaigns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093976"/>
            <a:ext cx="146304" cy="14630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3474720" y="20665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Auto follow-up sequences</a:t>
            </a:r>
            <a:endParaRPr lang="en-US" sz="9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2386584"/>
            <a:ext cx="146304" cy="14630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474720" y="2359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Activity logging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6126480" y="91440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6126480" y="914400"/>
            <a:ext cx="283464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6126480" y="9326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6172200" y="1152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AI Layer</a:t>
            </a:r>
            <a:endParaRPr lang="en-US" sz="1050" dirty="0"/>
          </a:p>
        </p:txBody>
      </p:sp>
      <p:sp>
        <p:nvSpPr>
          <p:cNvPr id="39" name="Text 29"/>
          <p:cNvSpPr/>
          <p:nvPr/>
        </p:nvSpPr>
        <p:spPr>
          <a:xfrm>
            <a:off x="7772400" y="932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</a:rPr>
              <a:t>6–10 months</a:t>
            </a:r>
            <a:endParaRPr lang="en-US" sz="8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508760"/>
            <a:ext cx="146304" cy="14630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446520" y="14813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Lead scoring model</a:t>
            </a:r>
            <a:endParaRPr lang="en-US" sz="900" dirty="0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801368"/>
            <a:ext cx="146304" cy="14630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446520" y="17739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Draft message generator</a:t>
            </a:r>
            <a:endParaRPr lang="en-US" sz="900" dirty="0"/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093976"/>
            <a:ext cx="146304" cy="146304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6446520" y="20665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Churn prediction alerts</a:t>
            </a:r>
            <a:endParaRPr lang="en-US" sz="900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386584"/>
            <a:ext cx="146304" cy="146304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446520" y="23591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Smart property matching</a:t>
            </a:r>
            <a:endParaRPr lang="en-US" sz="900" dirty="0"/>
          </a:p>
        </p:txBody>
      </p:sp>
      <p:sp>
        <p:nvSpPr>
          <p:cNvPr id="48" name="Shape 34"/>
          <p:cNvSpPr/>
          <p:nvPr/>
        </p:nvSpPr>
        <p:spPr>
          <a:xfrm>
            <a:off x="182880" y="288036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35"/>
          <p:cNvSpPr/>
          <p:nvPr/>
        </p:nvSpPr>
        <p:spPr>
          <a:xfrm>
            <a:off x="182880" y="2880360"/>
            <a:ext cx="283464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182880" y="28986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51" name="Text 37"/>
          <p:cNvSpPr/>
          <p:nvPr/>
        </p:nvSpPr>
        <p:spPr>
          <a:xfrm>
            <a:off x="228600" y="3118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Analytics Suite</a:t>
            </a:r>
            <a:endParaRPr lang="en-US" sz="1050" dirty="0"/>
          </a:p>
        </p:txBody>
      </p:sp>
      <p:sp>
        <p:nvSpPr>
          <p:cNvPr id="52" name="Text 38"/>
          <p:cNvSpPr/>
          <p:nvPr/>
        </p:nvSpPr>
        <p:spPr>
          <a:xfrm>
            <a:off x="1828800" y="28986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</a:rPr>
              <a:t>10–14 months</a:t>
            </a:r>
            <a:endParaRPr lang="en-US" sz="800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474720"/>
            <a:ext cx="146304" cy="146304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502920" y="34472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Full dashboard suite</a:t>
            </a:r>
            <a:endParaRPr lang="en-US" sz="900" dirty="0"/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3767328"/>
            <a:ext cx="146304" cy="146304"/>
          </a:xfrm>
          <a:prstGeom prst="rect">
            <a:avLst/>
          </a:prstGeom>
        </p:spPr>
      </p:pic>
      <p:sp>
        <p:nvSpPr>
          <p:cNvPr id="56" name="Text 40"/>
          <p:cNvSpPr/>
          <p:nvPr/>
        </p:nvSpPr>
        <p:spPr>
          <a:xfrm>
            <a:off x="502920" y="3739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Revenue forecasting</a:t>
            </a:r>
            <a:endParaRPr lang="en-US" sz="900" dirty="0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4059936"/>
            <a:ext cx="146304" cy="146304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502920" y="4032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Team leaderboards</a:t>
            </a:r>
            <a:endParaRPr lang="en-US" sz="900" dirty="0"/>
          </a:p>
        </p:txBody>
      </p:sp>
      <p:pic>
        <p:nvPicPr>
          <p:cNvPr id="59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4352544"/>
            <a:ext cx="146304" cy="146304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502920" y="43251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Custom report builder</a:t>
            </a:r>
            <a:endParaRPr lang="en-US" sz="900" dirty="0"/>
          </a:p>
        </p:txBody>
      </p:sp>
      <p:sp>
        <p:nvSpPr>
          <p:cNvPr id="61" name="Shape 43"/>
          <p:cNvSpPr/>
          <p:nvPr/>
        </p:nvSpPr>
        <p:spPr>
          <a:xfrm>
            <a:off x="3154680" y="288036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44"/>
          <p:cNvSpPr/>
          <p:nvPr/>
        </p:nvSpPr>
        <p:spPr>
          <a:xfrm>
            <a:off x="3154680" y="2880360"/>
            <a:ext cx="283464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3" name="Text 45"/>
          <p:cNvSpPr/>
          <p:nvPr/>
        </p:nvSpPr>
        <p:spPr>
          <a:xfrm>
            <a:off x="3154680" y="28986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64" name="Text 46"/>
          <p:cNvSpPr/>
          <p:nvPr/>
        </p:nvSpPr>
        <p:spPr>
          <a:xfrm>
            <a:off x="3200400" y="3118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Mobile &amp; Scale</a:t>
            </a:r>
            <a:endParaRPr lang="en-US" sz="1050" dirty="0"/>
          </a:p>
        </p:txBody>
      </p:sp>
      <p:sp>
        <p:nvSpPr>
          <p:cNvPr id="65" name="Text 47"/>
          <p:cNvSpPr/>
          <p:nvPr/>
        </p:nvSpPr>
        <p:spPr>
          <a:xfrm>
            <a:off x="4800600" y="28986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</a:rPr>
              <a:t>14–18 months</a:t>
            </a:r>
            <a:endParaRPr lang="en-US" sz="800" dirty="0"/>
          </a:p>
        </p:txBody>
      </p:sp>
      <p:pic>
        <p:nvPicPr>
          <p:cNvPr id="66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3474720"/>
            <a:ext cx="146304" cy="146304"/>
          </a:xfrm>
          <a:prstGeom prst="rect">
            <a:avLst/>
          </a:prstGeom>
        </p:spPr>
      </p:pic>
      <p:sp>
        <p:nvSpPr>
          <p:cNvPr id="67" name="Text 48"/>
          <p:cNvSpPr/>
          <p:nvPr/>
        </p:nvSpPr>
        <p:spPr>
          <a:xfrm>
            <a:off x="3474720" y="34472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React Native mobile app</a:t>
            </a:r>
            <a:endParaRPr lang="en-US" sz="900" dirty="0"/>
          </a:p>
        </p:txBody>
      </p:sp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3767328"/>
            <a:ext cx="146304" cy="146304"/>
          </a:xfrm>
          <a:prstGeom prst="rect">
            <a:avLst/>
          </a:prstGeom>
        </p:spPr>
      </p:pic>
      <p:sp>
        <p:nvSpPr>
          <p:cNvPr id="69" name="Text 49"/>
          <p:cNvSpPr/>
          <p:nvPr/>
        </p:nvSpPr>
        <p:spPr>
          <a:xfrm>
            <a:off x="3474720" y="3739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Offline-first features</a:t>
            </a:r>
            <a:endParaRPr lang="en-US" sz="900" dirty="0"/>
          </a:p>
        </p:txBody>
      </p:sp>
      <p:pic>
        <p:nvPicPr>
          <p:cNvPr id="70" name="Image 1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4059936"/>
            <a:ext cx="146304" cy="146304"/>
          </a:xfrm>
          <a:prstGeom prst="rect">
            <a:avLst/>
          </a:prstGeom>
        </p:spPr>
      </p:pic>
      <p:sp>
        <p:nvSpPr>
          <p:cNvPr id="71" name="Text 50"/>
          <p:cNvSpPr/>
          <p:nvPr/>
        </p:nvSpPr>
        <p:spPr>
          <a:xfrm>
            <a:off x="3474720" y="4032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Multi-brokerage tenant support</a:t>
            </a:r>
            <a:endParaRPr lang="en-US" sz="900" dirty="0"/>
          </a:p>
        </p:txBody>
      </p:sp>
      <p:pic>
        <p:nvPicPr>
          <p:cNvPr id="72" name="Image 1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08" y="4352544"/>
            <a:ext cx="146304" cy="146304"/>
          </a:xfrm>
          <a:prstGeom prst="rect">
            <a:avLst/>
          </a:prstGeom>
        </p:spPr>
      </p:pic>
      <p:sp>
        <p:nvSpPr>
          <p:cNvPr id="73" name="Text 51"/>
          <p:cNvSpPr/>
          <p:nvPr/>
        </p:nvSpPr>
        <p:spPr>
          <a:xfrm>
            <a:off x="3474720" y="43251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API marketplace</a:t>
            </a:r>
            <a:endParaRPr lang="en-US" sz="900" dirty="0"/>
          </a:p>
        </p:txBody>
      </p:sp>
      <p:sp>
        <p:nvSpPr>
          <p:cNvPr id="74" name="Shape 52"/>
          <p:cNvSpPr/>
          <p:nvPr/>
        </p:nvSpPr>
        <p:spPr>
          <a:xfrm>
            <a:off x="6126480" y="2880360"/>
            <a:ext cx="2834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Shape 53"/>
          <p:cNvSpPr/>
          <p:nvPr/>
        </p:nvSpPr>
        <p:spPr>
          <a:xfrm>
            <a:off x="6126480" y="2880360"/>
            <a:ext cx="28346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6" name="Text 54"/>
          <p:cNvSpPr/>
          <p:nvPr/>
        </p:nvSpPr>
        <p:spPr>
          <a:xfrm>
            <a:off x="6126480" y="289864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6</a:t>
            </a:r>
            <a:endParaRPr lang="en-US" sz="900" dirty="0"/>
          </a:p>
        </p:txBody>
      </p:sp>
      <p:sp>
        <p:nvSpPr>
          <p:cNvPr id="77" name="Text 55"/>
          <p:cNvSpPr/>
          <p:nvPr/>
        </p:nvSpPr>
        <p:spPr>
          <a:xfrm>
            <a:off x="6172200" y="31181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Market Expansion</a:t>
            </a:r>
            <a:endParaRPr lang="en-US" sz="1050" dirty="0"/>
          </a:p>
        </p:txBody>
      </p:sp>
      <p:sp>
        <p:nvSpPr>
          <p:cNvPr id="78" name="Text 56"/>
          <p:cNvSpPr/>
          <p:nvPr/>
        </p:nvSpPr>
        <p:spPr>
          <a:xfrm>
            <a:off x="7772400" y="28986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FFFFF"/>
                </a:solidFill>
              </a:rPr>
              <a:t>18–24 months</a:t>
            </a:r>
            <a:endParaRPr lang="en-US" sz="800" dirty="0"/>
          </a:p>
        </p:txBody>
      </p:sp>
      <p:pic>
        <p:nvPicPr>
          <p:cNvPr id="79" name="Image 2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474720"/>
            <a:ext cx="146304" cy="146304"/>
          </a:xfrm>
          <a:prstGeom prst="rect">
            <a:avLst/>
          </a:prstGeom>
        </p:spPr>
      </p:pic>
      <p:sp>
        <p:nvSpPr>
          <p:cNvPr id="80" name="Text 57"/>
          <p:cNvSpPr/>
          <p:nvPr/>
        </p:nvSpPr>
        <p:spPr>
          <a:xfrm>
            <a:off x="6446520" y="34472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White-label for brokerages</a:t>
            </a:r>
            <a:endParaRPr lang="en-US" sz="900" dirty="0"/>
          </a:p>
        </p:txBody>
      </p:sp>
      <p:pic>
        <p:nvPicPr>
          <p:cNvPr id="81" name="Image 2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767328"/>
            <a:ext cx="146304" cy="146304"/>
          </a:xfrm>
          <a:prstGeom prst="rect">
            <a:avLst/>
          </a:prstGeom>
        </p:spPr>
      </p:pic>
      <p:sp>
        <p:nvSpPr>
          <p:cNvPr id="82" name="Text 58"/>
          <p:cNvSpPr/>
          <p:nvPr/>
        </p:nvSpPr>
        <p:spPr>
          <a:xfrm>
            <a:off x="6446520" y="37398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PropTech partner integrations</a:t>
            </a:r>
            <a:endParaRPr lang="en-US" sz="900" dirty="0"/>
          </a:p>
        </p:txBody>
      </p:sp>
      <p:pic>
        <p:nvPicPr>
          <p:cNvPr id="83" name="Image 2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4059936"/>
            <a:ext cx="146304" cy="146304"/>
          </a:xfrm>
          <a:prstGeom prst="rect">
            <a:avLst/>
          </a:prstGeom>
        </p:spPr>
      </p:pic>
      <p:sp>
        <p:nvSpPr>
          <p:cNvPr id="84" name="Text 59"/>
          <p:cNvSpPr/>
          <p:nvPr/>
        </p:nvSpPr>
        <p:spPr>
          <a:xfrm>
            <a:off x="6446520" y="4032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International markets (UAE, SEA)</a:t>
            </a:r>
            <a:endParaRPr lang="en-US" sz="900" dirty="0"/>
          </a:p>
        </p:txBody>
      </p:sp>
      <p:pic>
        <p:nvPicPr>
          <p:cNvPr id="85" name="Image 2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4352544"/>
            <a:ext cx="146304" cy="146304"/>
          </a:xfrm>
          <a:prstGeom prst="rect">
            <a:avLst/>
          </a:prstGeom>
        </p:spPr>
      </p:pic>
      <p:sp>
        <p:nvSpPr>
          <p:cNvPr id="86" name="Text 60"/>
          <p:cNvSpPr/>
          <p:nvPr/>
        </p:nvSpPr>
        <p:spPr>
          <a:xfrm>
            <a:off x="6446520" y="43251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IPO-ready metrics reporting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F40"/>
          </a:solidFill>
          <a:ln w="12700">
            <a:solidFill>
              <a:srgbClr val="111F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Vitrag CRM Wins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83464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60120"/>
            <a:ext cx="54864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051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India-First by Design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0896" y="1490472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Built specifically for Indian real estate — RERA compliance, ₹ currency, portal integrations with 99acres/MagicBricks, and Indian naming conventions baked in. Not retrofitted.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63824" y="960120"/>
            <a:ext cx="283464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63824" y="960120"/>
            <a:ext cx="54864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10972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6744" y="1051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WhatsApp as a Core Feature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291840" y="1490472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The only CRM where WhatsApp is a first-class channel — not a bolt-on. Native two-way messaging, broadcast sequences, and full chat history within the lead record.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44768" y="960120"/>
            <a:ext cx="283464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44768" y="960120"/>
            <a:ext cx="54864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0972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47688" y="10515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AI that Works for Realtors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72784" y="1490472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Scoring, drafting, churn prediction — AI trained on real estate workflows, not generic sales. Actionable, not just informational.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182880" y="2880360"/>
            <a:ext cx="283464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82880" y="2880360"/>
            <a:ext cx="54864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0175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" y="29718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Priced for the Indian Market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10896" y="3410712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Starting ₹999/mo — 10x more accessible than Salesforce/HubSpot, with more real estate–specific functionality than both combined.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163824" y="2880360"/>
            <a:ext cx="283464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163824" y="2880360"/>
            <a:ext cx="54864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0984" y="3017520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66744" y="29718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Automation Without Developers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291840" y="3410712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Visual workflow builder, no-code. A solo realtor can set up a full follow-up SOP in 30 minutes with no technical knowledge.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44768" y="2880360"/>
            <a:ext cx="2834640" cy="1737360"/>
          </a:xfrm>
          <a:prstGeom prst="rect">
            <a:avLst/>
          </a:prstGeom>
          <a:solidFill>
            <a:srgbClr val="162040"/>
          </a:solidFill>
          <a:ln w="12700">
            <a:solidFill>
              <a:srgbClr val="2A3F6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144768" y="2880360"/>
            <a:ext cx="54864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017520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47688" y="297180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</a:rPr>
              <a:t>One Platform, Zero Gaps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272784" y="3410712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DF5"/>
                </a:solidFill>
              </a:rPr>
              <a:t>Lead capture → scoring → pipeline → communication → reporting → commission tracking. No stitching together 5 different tools.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A8BA0"/>
                </a:solidFill>
              </a:rPr>
              <a:t>vitragcrm.com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Next Steps &amp; Call to Action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7620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What happens from here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0" y="137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843"/>
                </a:solidFill>
              </a:rPr>
              <a:t>VITRAG 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371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4983480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vitragcrm.com  |  Confidential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89611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896112"/>
            <a:ext cx="502920" cy="1737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8961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3619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9692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Finalise Developer Brief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139903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</a:rPr>
              <a:t>Handover this PPT + the technical blueprint doc to the development team. Validate tech stack choices and confirm Phase 1 scope.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154680" y="89611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54680" y="896112"/>
            <a:ext cx="502920" cy="17373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154680" y="8961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53619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49040" y="9692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Recruit Development Team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749040" y="139903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</a:rPr>
              <a:t>Minimum viable team: 1 Full-Stack Dev, 1 Backend/DB specialist, 1 UI/UX designer. Consider agency vs. freelance vs. co-founder.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26480" y="89611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26480" y="896112"/>
            <a:ext cx="502920" cy="1737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26480" y="8961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536192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20840" y="9692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MVP in 12 Weeks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720840" y="139903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</a:rPr>
              <a:t>Phase 1 deliverables: Lead ingestion, WhatsApp integration, basic pipeline, deduplication, mobile-responsive web app. Beta with 10 realtors.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182880" y="281635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82880" y="2816352"/>
            <a:ext cx="502920" cy="1737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82880" y="28163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456432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77240" y="288950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Beta Launch — Bangalore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77240" y="331927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</a:rPr>
              <a:t>Start with Bangalore residential market. Onboard 50 agents free. Gather feedback. Iterate monthly. Prove retention before scale.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3154680" y="281635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154680" y="2816352"/>
            <a:ext cx="502920" cy="1737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154680" y="28163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3456432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749040" y="288950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Paid Launch &amp; Scale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749040" y="331927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</a:rPr>
              <a:t>Convert beta users to paid. Launch content marketing + LinkedIn + realtor communities. Target 500 paying users by Month 12.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6126480" y="2816352"/>
            <a:ext cx="2834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126480" y="2816352"/>
            <a:ext cx="502920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126480" y="28163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456432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720840" y="288950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Productize for Brokerages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6720840" y="3319272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0"/>
                </a:solidFill>
              </a:rPr>
              <a:t>White-label + multi-tenant build. Approach top-20 Bangalore brokerages for bulk licensing. Institutional revenue channel opens.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">
            <a:off x="5669280" y="0"/>
            <a:ext cx="4572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800" dirty="0">
                <a:solidFill>
                  <a:srgbClr val="FFFFFF"/>
                </a:solidFill>
              </a:rPr>
              <a:t>VITRAG CRM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4A843"/>
                </a:solidFill>
              </a:rPr>
              <a:t>The Future of Indian Real Estate Sales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475488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945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18 slides. 10 modules. 1 vision.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The Indian real estate market needs a CRM built for it.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</a:rPr>
              <a:t>Vitrag is that CRM.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2286000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Let's Build This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457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Prepared by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731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Vitrag CRM Team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2860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Contact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1645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hello@vitragcrm.com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19385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843"/>
                </a:solidFill>
              </a:rPr>
              <a:t>vitragcrm.com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331720"/>
            <a:ext cx="22860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468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Version 1.0 | Confidential</a:t>
            </a:r>
            <a:endParaRPr lang="en-US" sz="850" dirty="0"/>
          </a:p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</a:rPr>
              <a:t>Do not distribute without permission.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2598</Words>
  <Application>Microsoft Macintosh PowerPoint</Application>
  <PresentationFormat>On-screen Show (16:9)</PresentationFormat>
  <Paragraphs>577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Vitrag CRM – Product Blueprint</dc:title>
  <dc:subject>PptxGenJS Presentation</dc:subject>
  <dc:creator>Vitrag CRM Team</dc:creator>
  <cp:lastModifiedBy>vasu jain</cp:lastModifiedBy>
  <cp:revision>2</cp:revision>
  <dcterms:created xsi:type="dcterms:W3CDTF">2026-05-23T17:04:29Z</dcterms:created>
  <dcterms:modified xsi:type="dcterms:W3CDTF">2026-05-24T17:26:24Z</dcterms:modified>
</cp:coreProperties>
</file>